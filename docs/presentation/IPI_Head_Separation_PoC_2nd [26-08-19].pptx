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07" r:id="rId2"/>
    <p:sldId id="309" r:id="rId3"/>
    <p:sldId id="319" r:id="rId4"/>
    <p:sldId id="272" r:id="rId5"/>
    <p:sldId id="320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5DF27-A2B4-4C29-AA6B-ED937F5177BE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76B9C-CBFE-4096-A2AB-3680DEBDED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04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89875-3744-BF59-3D84-34C82465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E420F7-4778-62FF-C0BB-E4DD217E9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AB230F-3E1B-9F38-CBB1-2957EDC18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에이전트가 이메일 본문이나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 결과 같은 외부 데이터를 프롬프트에 그대로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넣어 처리할 때, 그 데이터 안에 공격자가 심어둔 명령문이 있으면 모델이 원래 사용자의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지시 대신 그 명령을 따라버리는 문제가 발생합니다. 이게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Indirect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Injection입니다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 가설은 이렇습니다 — 모델 내부에서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수준으로 봤을 때, 외부 데이터의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**내용을 읽는 데**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관여하는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그룹(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)과, 그 데이터 속 **명령을 실행에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옮기는 데** 관여하는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그룹(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)이 서로 분리되어 있을 것이라는 겁니다.</a:t>
            </a:r>
          </a:p>
          <a:p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분리되어 있다면,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Head만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정밀하게 무력화해도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Head의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정상 기능은 보존한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채로 공격만 막을 수 있습니다. 이걸 검증하는 방법은 두 단계입니다: 첫째,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relevance로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찾고, 둘째, 그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head의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D_inj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방향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edge만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끊습니다.</a:t>
            </a:r>
          </a:p>
          <a:p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003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A10B5-7D12-A73C-69BE-42083D18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2B2C2E-7822-8329-7654-1BF3DBA4C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AF05F3-99A6-2D48-A85E-CBA168B7A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찾는 방법을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설명드리기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전에, 구현상 중요한 트릭 하나를 먼저 짚겠습니다.</a:t>
            </a:r>
          </a:p>
          <a:p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계산하려는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relevance는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그냥 표준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gradient가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아니라,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AttnLRP라는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방식으로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계산된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gradient여야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합니다. 그 이유는,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RMSNorm이나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gated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-MLP,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attention의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비선형 연산을 일반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rule로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미분하면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relevance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값이 발산하거나 소실돼서,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"실제로 얼마나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기여했는가"를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제대로 반영하지 못하기 때문입니다.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LRP는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이런 연산마다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별도의 보존적인 전파 규칙을 씁니다.</a:t>
            </a:r>
          </a:p>
          <a:p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화면의 코드를 보시면, `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lxt.efficient`의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`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monkey_patch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함수를 모델을 로드하기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**전에**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호출합니다. 이 한 줄이 하는 일은,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HuggingFace의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Qwen2 모델링 모듈 안에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있는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RMSNorm·gated-MLP·attention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서브모듈들의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backward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계산 함수 자체를,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AttnLRP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규칙에 맞는 버전으로 런타임에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바꿔치기하는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겁니다. 표준 `Qwen2ForCausalLM`을 그대로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쓰면서도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AttnLRP에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정합적인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backward를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얻을 수 있는 방법입니다.</a:t>
            </a:r>
          </a:p>
          <a:p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57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E6A7-CEAD-BC6D-4834-E0D4C88B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BB5D62-DEA7-4156-9F27-5D7030FA3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B307F0-690C-E72A-CCFA-F0933F1B2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 세 가지입니다.</a:t>
            </a:r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head와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head는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실제로 분리되어 있고(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jaccard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0.18~0.38),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내부 행동과 외부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tool-call은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비슷한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집합을 공유합니다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jaccard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0.48~0.60).</a:t>
            </a:r>
          </a:p>
          <a:p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head의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D_inj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방향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edge만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끊어도, 정상 기능은 그대로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둔 채 공격을 k=10에서 20 안에 효과적으로 억제합니다.</a:t>
            </a:r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셋째, 완전히 다른 실제 벤치마크인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InjecAgent에는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부분적으로만 전이됩니다.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Qwen2.5-7B 기준으로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malicious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확률이 0.5237에서 0.1300으로 줄었지만, 저희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합성 데이터만큼 완전히 억제되지는 않았습니다.</a:t>
            </a:r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발표 슬라이드 자체에는 "한계 및 다음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단계"가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따로 없어서, 질문이 나올 경우를</a:t>
            </a: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대비해 아래 내용을 기억해두시면 좋습니다 (원하시면 이 내용을 슬라이드로 추가한</a:t>
            </a: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보조 파일 `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IPI_Head_PoC_supplement.pptx`를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별도로 준비해 드렸습니다).</a:t>
            </a:r>
          </a:p>
          <a:p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**"실전에서는 공격 위치를 미리 알아야 방어가 되는 거 아닌가요?"**</a:t>
            </a: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지금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knockout은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매 요청마다 정확한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injection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span을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알아야 지우는</a:t>
            </a: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구조라, 말씀하신 지적이 맞습니다.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"찾는" 단계는 라벨이 있는 데이터로</a:t>
            </a: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모델의 고정된 속성을 한 번 알아내는 것이라 문제없지만,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knockout을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적용"하는</a:t>
            </a: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매 요청 단계에서 정확한 공격 문장 위치를 오라클처럼 안다고 가정한 건 단순화입니다.</a:t>
            </a: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실전에서 말이 되려면 "외부 데이터 채널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전체"를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knockout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대상으로 삼아야 하는데,</a:t>
            </a: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이 버전은 아직 검증하지 않았습니다.</a:t>
            </a:r>
          </a:p>
          <a:p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**"P2-d(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InjecAgent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자체 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탐색)는 7B에서도 되나요?"**</a:t>
            </a: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아직 1.5B에서만 검증했습니다. `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compute_head_relevance`를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반복 호출할 때</a:t>
            </a: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GPU 메모리가 호출마다 누적되는 버그가 있어서, 60개 이상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InjecAgent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case에</a:t>
            </a: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대해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기반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탐색을 여러 번 도는 이번 실험은 1.5B로만 완료했습니다.</a:t>
            </a:r>
          </a:p>
          <a:p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jaccard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ko-K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internal,external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)이 왜 이렇게 높나요?"**</a:t>
            </a: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아직 정확한 원인은 확인하지 못했고, 다음 단계(P3)로 계획하고 있습니다.</a:t>
            </a: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`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internal_heads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−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external_heads`와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 반대(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대칭차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보면 "자유 텍스트로</a:t>
            </a: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낼지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tool-call로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낼지"를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가르는 채널 전용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head가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드러날 것으로 예상합니다.</a:t>
            </a:r>
          </a:p>
          <a:p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**"이 방법이 GPT-4 같은 API 모델에도 적용되나요?"**</a:t>
            </a: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→ 아니요.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확률과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직접 뽑고 모델링 코드를 패치해야 해서,</a:t>
            </a: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화이트박스로 접근 가능한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오픈웨이트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모델을 로컬(또는 자체 서버)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올려야만</a:t>
            </a: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가능합니다. API 뒤에 있는 폐쇄형 모델에는 적용할 방법이 없습니다.</a:t>
            </a:r>
          </a:p>
          <a:p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818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dirty="0"/>
              <a:t>안녕하십니까, 오늘 리뷰할 논문은 </a:t>
            </a:r>
            <a:r>
              <a:rPr lang="ko-KR" altLang="ko-KR" dirty="0" err="1"/>
              <a:t>NeurIPS</a:t>
            </a:r>
            <a:r>
              <a:rPr lang="ko-KR" altLang="ko-KR" dirty="0"/>
              <a:t> 2025에 게재된 "The </a:t>
            </a:r>
            <a:r>
              <a:rPr lang="ko-KR" altLang="ko-KR" dirty="0" err="1"/>
              <a:t>Atlas</a:t>
            </a:r>
            <a:r>
              <a:rPr lang="ko-KR" altLang="ko-KR" dirty="0"/>
              <a:t> of </a:t>
            </a:r>
            <a:r>
              <a:rPr lang="ko-KR" altLang="ko-KR" dirty="0" err="1"/>
              <a:t>In-Context</a:t>
            </a:r>
            <a:r>
              <a:rPr lang="ko-KR" altLang="ko-KR" dirty="0"/>
              <a:t> </a:t>
            </a:r>
            <a:r>
              <a:rPr lang="ko-KR" altLang="ko-KR" dirty="0" err="1"/>
              <a:t>Learning</a:t>
            </a:r>
            <a:r>
              <a:rPr lang="ko-KR" altLang="ko-KR" dirty="0"/>
              <a:t>: </a:t>
            </a:r>
            <a:r>
              <a:rPr lang="ko-KR" altLang="ko-KR" dirty="0" err="1"/>
              <a:t>How</a:t>
            </a:r>
            <a:r>
              <a:rPr lang="ko-KR" altLang="ko-KR" dirty="0"/>
              <a:t> </a:t>
            </a:r>
            <a:r>
              <a:rPr lang="ko-KR" altLang="ko-KR" dirty="0" err="1"/>
              <a:t>Attention</a:t>
            </a:r>
            <a:r>
              <a:rPr lang="ko-KR" altLang="ko-KR" dirty="0"/>
              <a:t> </a:t>
            </a:r>
            <a:r>
              <a:rPr lang="ko-KR" altLang="ko-KR" dirty="0" err="1"/>
              <a:t>Heads</a:t>
            </a:r>
            <a:r>
              <a:rPr lang="ko-KR" altLang="ko-KR" dirty="0"/>
              <a:t> </a:t>
            </a:r>
            <a:r>
              <a:rPr lang="ko-KR" altLang="ko-KR" dirty="0" err="1"/>
              <a:t>Shape</a:t>
            </a:r>
            <a:r>
              <a:rPr lang="ko-KR" altLang="ko-KR" dirty="0"/>
              <a:t> </a:t>
            </a:r>
            <a:r>
              <a:rPr lang="ko-KR" altLang="ko-KR" dirty="0" err="1"/>
              <a:t>In-Context</a:t>
            </a:r>
            <a:r>
              <a:rPr lang="ko-KR" altLang="ko-KR" dirty="0"/>
              <a:t> </a:t>
            </a:r>
            <a:r>
              <a:rPr lang="ko-KR" altLang="ko-KR" dirty="0" err="1"/>
              <a:t>Retrieval</a:t>
            </a:r>
            <a:r>
              <a:rPr lang="ko-KR" altLang="ko-KR" dirty="0"/>
              <a:t> </a:t>
            </a:r>
            <a:r>
              <a:rPr lang="ko-KR" altLang="ko-KR" dirty="0" err="1"/>
              <a:t>Augmentation"입니다</a:t>
            </a:r>
            <a:r>
              <a:rPr lang="ko-KR" altLang="ko-KR" dirty="0"/>
              <a:t>. 발표는 원종빈이 진행하겠습니다.</a:t>
            </a:r>
          </a:p>
        </p:txBody>
      </p:sp>
    </p:spTree>
    <p:extLst>
      <p:ext uri="{BB962C8B-B14F-4D97-AF65-F5344CB8AC3E}">
        <p14:creationId xmlns:p14="http://schemas.microsoft.com/office/powerpoint/2010/main" val="2220463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80858-1DA2-2BC0-D968-3DA7D096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C5D7A9-1B98-8AE3-3F3F-E05B8E673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F283D7-9EAA-CAEA-ECCB-1E6AFEAAF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 에이전트가 이메일 본문이나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 결과 같은 외부 데이터를 프롬프트에 그대로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넣어 처리할 때, 그 데이터 안에 공격자가 심어둔 명령문이 있으면 모델이 원래 사용자의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지시 대신 그 명령을 따라버리는 문제가 발생합니다. 이게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Indirect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Injection입니다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 가설은 이렇습니다 — 모델 내부에서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수준으로 봤을 때, 외부 데이터의</a:t>
            </a:r>
            <a:r>
              <a:rPr lang="ko-KR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**내용을 읽는 데**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관여하는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그룹(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)과, 그 데이터 속 **명령을 실행에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옮기는 데** 관여하는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그룹(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)이 서로 분리되어 있을 것이라는 겁니다.</a:t>
            </a:r>
          </a:p>
          <a:p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분리되어 있다면,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Head만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정밀하게 무력화해도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Head의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정상 기능은 보존한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채로 공격만 막을 수 있습니다. 이걸 검증하는 방법은 두 단계입니다: 첫째,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relevance로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head를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찾고, 둘째, 그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head의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D_inj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방향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edge만</a:t>
            </a:r>
            <a: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끊습니다.</a:t>
            </a:r>
          </a:p>
          <a:p>
            <a:br>
              <a:rPr lang="ko-KR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ko-KR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6456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R_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7824652" y="1712758"/>
            <a:ext cx="2257697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marL="0" indent="0">
              <a:buNone/>
            </a:pPr>
            <a:r>
              <a:rPr lang="en-US" sz="3000" b="1" dirty="0">
                <a:solidFill>
                  <a:srgbClr val="C9C9C9"/>
                </a:solidFill>
                <a:latin typeface="맑은 고딕" pitchFamily="34" charset="0"/>
                <a:ea typeface="맑은 고딕" pitchFamily="34" charset="-122"/>
              </a:rPr>
              <a:t>Lecture</a:t>
            </a:r>
            <a:r>
              <a:rPr lang="ko-KR" altLang="en-US" sz="3000" b="1" dirty="0">
                <a:solidFill>
                  <a:srgbClr val="C9C9C9"/>
                </a:solidFill>
                <a:latin typeface="맑은 고딕" pitchFamily="34" charset="0"/>
                <a:ea typeface="맑은 고딕" pitchFamily="34" charset="-122"/>
              </a:rPr>
              <a:t> </a:t>
            </a:r>
            <a:r>
              <a:rPr lang="en-US" altLang="ko-KR" sz="3000" b="1" dirty="0">
                <a:solidFill>
                  <a:srgbClr val="C9C9C9"/>
                </a:solidFill>
                <a:latin typeface="맑은 고딕" pitchFamily="34" charset="0"/>
                <a:ea typeface="맑은 고딕" pitchFamily="34" charset="-122"/>
              </a:rPr>
              <a:t>00</a:t>
            </a:r>
            <a:endParaRPr lang="en-US" sz="3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1857103" y="2480854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5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marL="0" indent="0">
              <a:buNone/>
            </a:pPr>
            <a:r>
              <a:rPr lang="en-US" sz="56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</a:rPr>
              <a:t>Title</a:t>
            </a:r>
            <a:endParaRPr lang="en-US" sz="56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2314303" y="370615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6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</a:rPr>
              <a:t>Subtitle</a:t>
            </a:r>
            <a:endParaRPr lang="en-US" sz="16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</a:t>
            </a: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|  0000000 </a:t>
            </a:r>
            <a:r>
              <a:rPr lang="ko-KR" alt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r>
              <a:rPr lang="en-US" altLang="ko-KR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</a:t>
            </a: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</a:t>
            </a:r>
            <a:r>
              <a:rPr lang="en-US" sz="1200" dirty="0" err="1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</a:t>
            </a: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000@0000000</a:t>
            </a:r>
            <a:endParaRPr lang="en-US" sz="1200" dirty="0"/>
          </a:p>
        </p:txBody>
      </p:sp>
      <p:sp>
        <p:nvSpPr>
          <p:cNvPr id="7" name="Shape 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7AE092AE-D465-EEA3-0712-EB081D53B1E7}"/>
              </a:ext>
            </a:extLst>
          </p:cNvPr>
          <p:cNvSpPr/>
          <p:nvPr userDrawn="1"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직각 삼각형 22">
            <a:extLst>
              <a:ext uri="{FF2B5EF4-FFF2-40B4-BE49-F238E27FC236}">
                <a16:creationId xmlns:a16="http://schemas.microsoft.com/office/drawing/2014/main" id="{7D89A5F9-D265-6749-713A-6A8106A7E562}"/>
              </a:ext>
            </a:extLst>
          </p:cNvPr>
          <p:cNvSpPr/>
          <p:nvPr userDrawn="1"/>
        </p:nvSpPr>
        <p:spPr>
          <a:xfrm rot="16200000">
            <a:off x="11243070" y="5802871"/>
            <a:ext cx="945363" cy="952499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9DFEEF-7DA2-D78B-EF5A-6EB3944FD0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3571" y="154387"/>
            <a:ext cx="1551200" cy="64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51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R_PROBLE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11480" y="365760"/>
            <a:ext cx="86868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11480" y="987552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rgbClr val="6B6B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marL="0" indent="0">
              <a:buNone/>
            </a:pPr>
            <a:r>
              <a:rPr lang="ko-KR" altLang="ko-KR" dirty="0" err="1"/>
              <a:t>Describe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title</a:t>
            </a:r>
            <a:r>
              <a:rPr lang="ko-KR" altLang="ko-KR" dirty="0"/>
              <a:t>.</a:t>
            </a:r>
            <a:endParaRPr lang="en-US" sz="1400" dirty="0"/>
          </a:p>
        </p:txBody>
      </p:sp>
      <p:sp>
        <p:nvSpPr>
          <p:cNvPr id="4" name="Shape 0"/>
          <p:cNvSpPr/>
          <p:nvPr/>
        </p:nvSpPr>
        <p:spPr>
          <a:xfrm>
            <a:off x="411480" y="1444752"/>
            <a:ext cx="10881360" cy="13716"/>
          </a:xfrm>
          <a:prstGeom prst="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0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직각 삼각형 21">
            <a:extLst>
              <a:ext uri="{FF2B5EF4-FFF2-40B4-BE49-F238E27FC236}">
                <a16:creationId xmlns:a16="http://schemas.microsoft.com/office/drawing/2014/main" id="{C27A960F-A919-5505-1C00-4737222A6B1B}"/>
              </a:ext>
            </a:extLst>
          </p:cNvPr>
          <p:cNvSpPr/>
          <p:nvPr userDrawn="1"/>
        </p:nvSpPr>
        <p:spPr>
          <a:xfrm rot="16200000">
            <a:off x="11243070" y="5802871"/>
            <a:ext cx="945363" cy="952499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9930A011-ABE0-B24D-DD81-AC96B7F40BA8}"/>
              </a:ext>
            </a:extLst>
          </p:cNvPr>
          <p:cNvSpPr/>
          <p:nvPr userDrawn="1"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직각 삼각형 22">
            <a:extLst>
              <a:ext uri="{FF2B5EF4-FFF2-40B4-BE49-F238E27FC236}">
                <a16:creationId xmlns:a16="http://schemas.microsoft.com/office/drawing/2014/main" id="{A12BB34C-9E91-9C52-1A55-C2270F12DFE4}"/>
              </a:ext>
            </a:extLst>
          </p:cNvPr>
          <p:cNvSpPr/>
          <p:nvPr userDrawn="1"/>
        </p:nvSpPr>
        <p:spPr>
          <a:xfrm rot="16200000">
            <a:off x="11192805" y="5782380"/>
            <a:ext cx="975140" cy="1023256"/>
          </a:xfrm>
          <a:prstGeom prst="rt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5500B38-1D69-3A1B-74F3-F277CDF1AE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3571" y="154387"/>
            <a:ext cx="1551200" cy="649888"/>
          </a:xfrm>
          <a:prstGeom prst="rect">
            <a:avLst/>
          </a:prstGeom>
        </p:spPr>
      </p:pic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3CE10CA6-3909-E0C1-5140-0F66C2E2E76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525463" y="1778983"/>
            <a:ext cx="10714039" cy="4259758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ko-KR" dirty="0"/>
              <a:t>Please enter text </a:t>
            </a:r>
          </a:p>
          <a:p>
            <a:pPr lvl="2"/>
            <a:r>
              <a:rPr lang="en-US" altLang="ko-KR" dirty="0"/>
              <a:t>second</a:t>
            </a:r>
            <a:endParaRPr lang="ko-KR" altLang="en-US" dirty="0"/>
          </a:p>
          <a:p>
            <a:pPr lvl="3"/>
            <a:r>
              <a:rPr lang="en-US" altLang="ko-KR" dirty="0"/>
              <a:t>third</a:t>
            </a:r>
            <a:endParaRPr lang="ko-KR" altLang="en-US" dirty="0"/>
          </a:p>
          <a:p>
            <a:pPr lvl="4"/>
            <a:r>
              <a:rPr lang="en-US" altLang="ko-KR" dirty="0"/>
              <a:t>fourth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803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4B3A-C572-38DA-98A6-40F6E2F0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AD632057-1FB1-4A4F-5D50-30ECB860843D}"/>
              </a:ext>
            </a:extLst>
          </p:cNvPr>
          <p:cNvSpPr/>
          <p:nvPr/>
        </p:nvSpPr>
        <p:spPr>
          <a:xfrm>
            <a:off x="1257531" y="4451927"/>
            <a:ext cx="9676940" cy="1308793"/>
          </a:xfrm>
          <a:prstGeom prst="roundRect">
            <a:avLst>
              <a:gd name="adj" fmla="val 10000"/>
            </a:avLst>
          </a:prstGeom>
          <a:solidFill>
            <a:srgbClr val="FBE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55C4EC47-E0E7-319D-53CD-900509DA6C2D}"/>
              </a:ext>
            </a:extLst>
          </p:cNvPr>
          <p:cNvSpPr/>
          <p:nvPr/>
        </p:nvSpPr>
        <p:spPr>
          <a:xfrm>
            <a:off x="6232084" y="2853053"/>
            <a:ext cx="4702386" cy="1151894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5240">
            <a:solidFill>
              <a:srgbClr val="DEDF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0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428D085C-30EC-A05C-91DF-4F179D815D53}"/>
              </a:ext>
            </a:extLst>
          </p:cNvPr>
          <p:cNvSpPr/>
          <p:nvPr/>
        </p:nvSpPr>
        <p:spPr>
          <a:xfrm>
            <a:off x="1257530" y="2853053"/>
            <a:ext cx="4702386" cy="1151894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 w="15240">
            <a:solidFill>
              <a:srgbClr val="DEDF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sz="200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7F4F86-F63A-3D8B-C213-E5FB941C2799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E59EF0-0E8E-03E9-405C-D4D851555780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가설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- Read Head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와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Control Head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는 분리되어 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7E16B-BE12-84F5-0D21-35BF5A10661D}"/>
              </a:ext>
            </a:extLst>
          </p:cNvPr>
          <p:cNvSpPr txBox="1"/>
          <p:nvPr/>
        </p:nvSpPr>
        <p:spPr>
          <a:xfrm>
            <a:off x="3796146" y="1949678"/>
            <a:ext cx="459940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정상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지시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] + [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외부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데이터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400" b="0" i="0" dirty="0" err="1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공격자</a:t>
            </a:r>
            <a:r>
              <a:rPr sz="1400" b="0" i="0" dirty="0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명령</a:t>
            </a:r>
            <a:r>
              <a:rPr sz="1400" b="0" i="0" dirty="0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삽입</a:t>
            </a:r>
            <a:r>
              <a:rPr sz="1400" b="0" i="0" dirty="0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] → </a:t>
            </a:r>
            <a:r>
              <a:rPr sz="14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400" b="0" i="0" dirty="0" err="1">
                <a:solidFill>
                  <a:srgbClr val="C1442A"/>
                </a:solidFill>
                <a:latin typeface="프리젠테이션 5 Medium" pitchFamily="2" charset="-127"/>
                <a:ea typeface="프리젠테이션 5 Medium" pitchFamily="2" charset="-127"/>
              </a:rPr>
              <a:t>공격</a:t>
            </a:r>
            <a:r>
              <a:rPr sz="1400" b="0" i="0" dirty="0">
                <a:solidFill>
                  <a:srgbClr val="C1442A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C1442A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endParaRPr sz="1400" b="0" i="0" dirty="0">
              <a:solidFill>
                <a:srgbClr val="C1442A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67CEED-1777-349D-C36E-C4501904379E}"/>
              </a:ext>
            </a:extLst>
          </p:cNvPr>
          <p:cNvSpPr txBox="1"/>
          <p:nvPr/>
        </p:nvSpPr>
        <p:spPr>
          <a:xfrm>
            <a:off x="1538162" y="3134882"/>
            <a:ext cx="4174375" cy="48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 dirty="0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</a:rPr>
              <a:t>Read Head</a:t>
            </a:r>
          </a:p>
          <a:p>
            <a:pPr>
              <a:spcBef>
                <a:spcPts val="400"/>
              </a:spcBef>
            </a:pP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외부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데이터의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내용을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읽는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데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관여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—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정상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기능을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담당</a:t>
            </a:r>
            <a:endParaRPr sz="1400" b="0" i="0" dirty="0">
              <a:solidFill>
                <a:srgbClr val="565C6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949205-E297-703D-EFF8-DD578196E492}"/>
              </a:ext>
            </a:extLst>
          </p:cNvPr>
          <p:cNvSpPr txBox="1"/>
          <p:nvPr/>
        </p:nvSpPr>
        <p:spPr>
          <a:xfrm>
            <a:off x="6552126" y="3134882"/>
            <a:ext cx="4196694" cy="48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 dirty="0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</a:rPr>
              <a:t>Control Head</a:t>
            </a:r>
          </a:p>
          <a:p>
            <a:pPr>
              <a:spcBef>
                <a:spcPts val="400"/>
              </a:spcBef>
            </a:pP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데이터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속 “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명령”을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실행에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옮기는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데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관여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—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공격이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성공하는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경로</a:t>
            </a:r>
            <a:endParaRPr sz="1400" b="0" i="0" dirty="0">
              <a:solidFill>
                <a:srgbClr val="565C6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CF2754-93F8-556E-9224-4271E1E7A9B1}"/>
              </a:ext>
            </a:extLst>
          </p:cNvPr>
          <p:cNvSpPr txBox="1"/>
          <p:nvPr/>
        </p:nvSpPr>
        <p:spPr>
          <a:xfrm>
            <a:off x="1794012" y="4745102"/>
            <a:ext cx="8603672" cy="722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ko-KR" altLang="en-US" sz="16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둘이 분리되어 있다면 </a:t>
            </a:r>
            <a:r>
              <a:rPr lang="en-US" altLang="ko-KR" sz="16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control head</a:t>
            </a:r>
            <a:r>
              <a:rPr lang="ko-KR" altLang="en-US" sz="16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만 무력화해 </a:t>
            </a:r>
            <a:r>
              <a:rPr lang="en-US" altLang="ko-KR" sz="16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read </a:t>
            </a:r>
            <a:r>
              <a:rPr lang="ko-KR" altLang="en-US" sz="16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기능은 보존한 채 공격만 방어 가능</a:t>
            </a:r>
            <a:r>
              <a:rPr lang="en-US" altLang="ko-KR" sz="16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pPr>
              <a:lnSpc>
                <a:spcPct val="135000"/>
              </a:lnSpc>
            </a:pPr>
            <a:r>
              <a:rPr lang="ko-KR" altLang="en-US" sz="16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방법은 두 단계</a:t>
            </a:r>
            <a:r>
              <a:rPr lang="en-US" altLang="ko-KR" sz="16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① </a:t>
            </a:r>
            <a:r>
              <a:rPr lang="en-US" altLang="ko-KR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relevance</a:t>
            </a:r>
            <a:r>
              <a:rPr lang="ko-KR" altLang="en-US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로 </a:t>
            </a:r>
            <a:r>
              <a:rPr lang="en-US" altLang="ko-KR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head</a:t>
            </a:r>
            <a:r>
              <a:rPr lang="ko-KR" altLang="en-US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를 찾고 </a:t>
            </a:r>
            <a:r>
              <a:rPr lang="ko-KR" altLang="en-US" sz="1600" b="1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② 그 </a:t>
            </a:r>
            <a:r>
              <a:rPr lang="en-US" altLang="ko-KR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head</a:t>
            </a:r>
            <a:r>
              <a:rPr lang="ko-KR" altLang="en-US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의 </a:t>
            </a:r>
            <a:r>
              <a:rPr lang="en-US" altLang="ko-KR" sz="1600" b="1" i="0" dirty="0" err="1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D_inj</a:t>
            </a:r>
            <a:r>
              <a:rPr lang="ko-KR" altLang="en-US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 방향 </a:t>
            </a:r>
            <a:r>
              <a:rPr lang="en-US" altLang="ko-KR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attention edge</a:t>
            </a:r>
            <a:r>
              <a:rPr lang="ko-KR" altLang="en-US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만 끊는다</a:t>
            </a:r>
            <a:r>
              <a:rPr lang="en-US" altLang="ko-KR" sz="16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8100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DBF32-ED40-24A8-EA0A-95F4371C4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776CC098-E44E-5137-5F79-958FF7BC087D}"/>
              </a:ext>
            </a:extLst>
          </p:cNvPr>
          <p:cNvSpPr/>
          <p:nvPr/>
        </p:nvSpPr>
        <p:spPr>
          <a:xfrm>
            <a:off x="7342632" y="1634836"/>
            <a:ext cx="3380406" cy="3899635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AD6D1A-F39B-136C-0C1E-1C022A2205AA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방법론 </a:t>
            </a:r>
            <a:r>
              <a:rPr lang="en-US" altLang="ko-KR" sz="3600" dirty="0">
                <a:latin typeface="프리젠테이션 5 Medium" pitchFamily="2" charset="-127"/>
                <a:ea typeface="프리젠테이션 5 Medium" pitchFamily="2" charset="-127"/>
              </a:rPr>
              <a:t>- HEAD </a:t>
            </a:r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탐색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DA7E09-8EC0-4F53-4195-4E44D4E0AED1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왜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grad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가 아니라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"</a:t>
            </a:r>
            <a:r>
              <a:rPr lang="en-US" altLang="ko-KR" dirty="0" err="1">
                <a:latin typeface="프리젠테이션 5 Medium" pitchFamily="2" charset="-127"/>
                <a:ea typeface="프리젠테이션 5 Medium" pitchFamily="2" charset="-127"/>
              </a:rPr>
              <a:t>AttnLRP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 grad"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여야 하는가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42A55A53-0D7F-BBF5-DFE0-DCB76B257404}"/>
              </a:ext>
            </a:extLst>
          </p:cNvPr>
          <p:cNvSpPr/>
          <p:nvPr/>
        </p:nvSpPr>
        <p:spPr>
          <a:xfrm>
            <a:off x="490467" y="1634835"/>
            <a:ext cx="6126480" cy="3899637"/>
          </a:xfrm>
          <a:prstGeom prst="roundRect">
            <a:avLst>
              <a:gd name="adj" fmla="val 3500"/>
            </a:avLst>
          </a:prstGeom>
          <a:solidFill>
            <a:srgbClr val="F4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lt1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6730EF46-F1BE-1D6A-9978-469897683D03}"/>
              </a:ext>
            </a:extLst>
          </p:cNvPr>
          <p:cNvSpPr/>
          <p:nvPr/>
        </p:nvSpPr>
        <p:spPr>
          <a:xfrm>
            <a:off x="847954" y="1712323"/>
            <a:ext cx="5411506" cy="3709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/>
              </a:rPr>
              <a:t># attn_relevance.py — </a:t>
            </a:r>
            <a:r>
              <a:rPr lang="ko-KR" altLang="en-US" sz="1400" dirty="0">
                <a:solidFill>
                  <a:srgbClr val="1A1A1A"/>
                </a:solidFill>
                <a:latin typeface="Consolas"/>
              </a:rPr>
              <a:t>모델 로드 전에 실행</a:t>
            </a:r>
          </a:p>
          <a:p>
            <a:pPr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/>
              </a:rPr>
              <a:t>from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lxt.efficient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 import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monkey_patch</a:t>
            </a:r>
            <a:endParaRPr lang="en-US" sz="1400" dirty="0">
              <a:solidFill>
                <a:srgbClr val="1A1A1A"/>
              </a:solidFill>
              <a:latin typeface="Consolas"/>
            </a:endParaRPr>
          </a:p>
          <a:p>
            <a:pPr indent="0">
              <a:lnSpc>
                <a:spcPct val="130000"/>
              </a:lnSpc>
              <a:buNone/>
            </a:pPr>
            <a:endParaRPr lang="en-US" sz="1400" dirty="0">
              <a:solidFill>
                <a:srgbClr val="1A1A1A"/>
              </a:solidFill>
              <a:latin typeface="Consolas"/>
            </a:endParaRPr>
          </a:p>
          <a:p>
            <a:pPr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/>
              </a:rPr>
              <a:t>#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modeling_mod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 = transformers.models.qwen2.modeling_qwen2</a:t>
            </a:r>
          </a:p>
          <a:p>
            <a:pPr indent="0">
              <a:lnSpc>
                <a:spcPct val="130000"/>
              </a:lnSpc>
              <a:buNone/>
            </a:pPr>
            <a:r>
              <a:rPr lang="en-US" sz="1400" dirty="0" err="1">
                <a:solidFill>
                  <a:srgbClr val="1A1A1A"/>
                </a:solidFill>
                <a:latin typeface="Consolas"/>
              </a:rPr>
              <a:t>monkey_patch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(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modeling_mod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, verbose=False)</a:t>
            </a:r>
          </a:p>
          <a:p>
            <a:pPr indent="0">
              <a:lnSpc>
                <a:spcPct val="130000"/>
              </a:lnSpc>
              <a:buNone/>
            </a:pPr>
            <a:endParaRPr lang="en-US" sz="1400" dirty="0">
              <a:solidFill>
                <a:srgbClr val="1A1A1A"/>
              </a:solidFill>
              <a:latin typeface="Consolas"/>
            </a:endParaRPr>
          </a:p>
          <a:p>
            <a:pPr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/>
              </a:rPr>
              <a:t># </a:t>
            </a:r>
            <a:r>
              <a:rPr lang="ko-KR" altLang="en-US" sz="1400" dirty="0">
                <a:solidFill>
                  <a:srgbClr val="1A1A1A"/>
                </a:solidFill>
                <a:latin typeface="Consolas"/>
              </a:rPr>
              <a:t>패치는 반드시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from_pretrained</a:t>
            </a:r>
            <a:r>
              <a:rPr lang="ko-KR" altLang="en-US" sz="1400" dirty="0">
                <a:solidFill>
                  <a:srgbClr val="1A1A1A"/>
                </a:solidFill>
                <a:latin typeface="Consolas"/>
              </a:rPr>
              <a:t>보다 먼저</a:t>
            </a:r>
          </a:p>
          <a:p>
            <a:pPr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/>
              </a:rPr>
              <a:t>model =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model_cls.from_pretrained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(</a:t>
            </a:r>
          </a:p>
          <a:p>
            <a:pPr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/>
              </a:rPr>
              <a:t>   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model_path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,</a:t>
            </a:r>
          </a:p>
          <a:p>
            <a:pPr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/>
              </a:rPr>
              <a:t>    </a:t>
            </a:r>
            <a:r>
              <a:rPr lang="en-US" sz="1400" dirty="0" err="1">
                <a:solidFill>
                  <a:srgbClr val="1A1A1A"/>
                </a:solidFill>
                <a:latin typeface="Consolas"/>
              </a:rPr>
              <a:t>attn_implementation</a:t>
            </a:r>
            <a:r>
              <a:rPr lang="en-US" sz="1400" dirty="0">
                <a:solidFill>
                  <a:srgbClr val="1A1A1A"/>
                </a:solidFill>
                <a:latin typeface="Consolas"/>
              </a:rPr>
              <a:t>="eager",</a:t>
            </a:r>
          </a:p>
          <a:p>
            <a:pPr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nsolas"/>
              </a:rPr>
              <a:t>)</a:t>
            </a: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B936515B-B9CD-ACD4-8897-DDA5197301F3}"/>
              </a:ext>
            </a:extLst>
          </p:cNvPr>
          <p:cNvSpPr/>
          <p:nvPr/>
        </p:nvSpPr>
        <p:spPr>
          <a:xfrm>
            <a:off x="7653310" y="1861727"/>
            <a:ext cx="2889940" cy="3449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</a:rPr>
              <a:t>표준 </a:t>
            </a:r>
            <a:r>
              <a:rPr lang="en-US" altLang="ko-KR" sz="1400" b="1" dirty="0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</a:rPr>
              <a:t>gradient ≠ relevance</a:t>
            </a:r>
          </a:p>
          <a:p>
            <a:pPr>
              <a:spcAft>
                <a:spcPts val="1400"/>
              </a:spcAft>
            </a:pPr>
            <a:r>
              <a:rPr lang="en-US" altLang="ko-KR" sz="120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RMSNorm·gated-MLP·softmax</a:t>
            </a:r>
            <a:r>
              <a:rPr lang="en-US" altLang="ko-KR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같은 비선형 연산을 일반 </a:t>
            </a:r>
            <a:r>
              <a:rPr lang="en-US" altLang="ko-KR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chain rule</a:t>
            </a:r>
            <a:r>
              <a:rPr lang="ko-KR" altLang="en-US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로 미분하면 </a:t>
            </a:r>
            <a:r>
              <a:rPr lang="en-US" altLang="ko-KR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relevance</a:t>
            </a:r>
            <a:r>
              <a:rPr lang="ko-KR" altLang="en-US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가 발산</a:t>
            </a:r>
            <a:r>
              <a:rPr lang="en-US" altLang="ko-KR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·</a:t>
            </a:r>
            <a:r>
              <a:rPr lang="ko-KR" altLang="en-US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소실</a:t>
            </a:r>
            <a:endParaRPr lang="en-US" altLang="ko-KR" sz="1200" dirty="0">
              <a:solidFill>
                <a:srgbClr val="565C66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spcAft>
                <a:spcPts val="1400"/>
              </a:spcAft>
            </a:pPr>
            <a:r>
              <a:rPr lang="en-US" altLang="ko-KR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LRP</a:t>
            </a:r>
            <a:r>
              <a:rPr lang="ko-KR" altLang="en-US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는 이 연산들마다 별도의 보존적 전파 규칙을 쓴다</a:t>
            </a:r>
            <a:r>
              <a:rPr lang="en-US" altLang="ko-KR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ko-KR" altLang="ko-KR" sz="1400" b="1" dirty="0" err="1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</a:rPr>
              <a:t>monkey_patch</a:t>
            </a:r>
            <a:r>
              <a:rPr lang="ko-KR" altLang="ko-KR" sz="1400" b="1" dirty="0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</a:rPr>
              <a:t> = </a:t>
            </a:r>
            <a:r>
              <a:rPr lang="ko-KR" altLang="ko-KR" sz="1400" b="1" dirty="0" err="1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</a:rPr>
              <a:t>backward</a:t>
            </a:r>
            <a:r>
              <a:rPr lang="ko-KR" altLang="ko-KR" sz="1400" b="1" dirty="0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</a:rPr>
              <a:t> 함수 교체</a:t>
            </a:r>
            <a:endParaRPr lang="en-US" altLang="ko-KR" sz="1400" b="1" dirty="0">
              <a:solidFill>
                <a:srgbClr val="2F6FCE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spcAft>
                <a:spcPts val="1400"/>
              </a:spcAft>
            </a:pPr>
            <a:r>
              <a:rPr lang="ko-KR" altLang="ko-KR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모델을 만들기 전에, 모듈 안 </a:t>
            </a:r>
            <a:r>
              <a:rPr lang="ko-KR" altLang="ko-KR" sz="120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서브모듈들의</a:t>
            </a:r>
            <a:r>
              <a:rPr lang="ko-KR" altLang="ko-KR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ko-KR" sz="120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backward</a:t>
            </a:r>
            <a:r>
              <a:rPr lang="ko-KR" altLang="ko-KR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계산 자체를 </a:t>
            </a:r>
            <a:r>
              <a:rPr lang="ko-KR" altLang="ko-KR" sz="120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lxt가</a:t>
            </a:r>
            <a:r>
              <a:rPr lang="ko-KR" altLang="ko-KR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제공하는 </a:t>
            </a:r>
            <a:r>
              <a:rPr lang="ko-KR" altLang="ko-KR" sz="120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AttnLRP</a:t>
            </a:r>
            <a:r>
              <a:rPr lang="ko-KR" altLang="ko-KR" sz="12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규칙으로 </a:t>
            </a:r>
            <a:r>
              <a:rPr lang="ko-KR" altLang="ko-KR" sz="120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바꿔치기</a:t>
            </a:r>
            <a:endParaRPr lang="ko-KR" altLang="en-US" sz="1200" dirty="0">
              <a:solidFill>
                <a:srgbClr val="565C66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05ECA3E7-5CA4-DAD3-A9BC-13B7A39CA21A}"/>
              </a:ext>
            </a:extLst>
          </p:cNvPr>
          <p:cNvSpPr/>
          <p:nvPr/>
        </p:nvSpPr>
        <p:spPr>
          <a:xfrm>
            <a:off x="4954045" y="2203168"/>
            <a:ext cx="2968317" cy="308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AAE2C9-4304-D6B7-AE8A-8DE20A87389E}"/>
              </a:ext>
            </a:extLst>
          </p:cNvPr>
          <p:cNvSpPr txBox="1"/>
          <p:nvPr/>
        </p:nvSpPr>
        <p:spPr>
          <a:xfrm>
            <a:off x="556953" y="5828066"/>
            <a:ext cx="10911535" cy="472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ko-KR" sz="1200" b="0" i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- Qwen2/Llama </a:t>
            </a:r>
            <a:r>
              <a:rPr lang="ko-KR" altLang="en-US" sz="1200" b="0" i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계열만 </a:t>
            </a:r>
            <a:r>
              <a:rPr lang="en-US" altLang="ko-KR" sz="1200" b="0" i="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model_family</a:t>
            </a:r>
            <a:r>
              <a:rPr lang="ko-KR" altLang="en-US" sz="1200" b="0" i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로 제한하는 이유도 </a:t>
            </a:r>
            <a:r>
              <a:rPr lang="en-US" altLang="ko-KR" sz="1200" b="0" i="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lxt</a:t>
            </a:r>
            <a:r>
              <a:rPr lang="ko-KR" altLang="en-US" sz="1200" b="0" i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의 </a:t>
            </a:r>
            <a:r>
              <a:rPr lang="en-US" altLang="ko-KR" sz="1200" b="0" i="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monkey_patch</a:t>
            </a:r>
            <a:r>
              <a:rPr lang="ko-KR" altLang="en-US" sz="1200" b="0" i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가 이 두 모듈 구조만 공식 지원하기 때문</a:t>
            </a:r>
            <a:r>
              <a:rPr lang="en-US" altLang="ko-KR" sz="1200" b="0" i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.</a:t>
            </a:r>
          </a:p>
          <a:p>
            <a:pPr>
              <a:lnSpc>
                <a:spcPct val="135000"/>
              </a:lnSpc>
            </a:pPr>
            <a:r>
              <a:rPr lang="en-US" altLang="ko-KR" sz="1200" b="0" i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- Atl</a:t>
            </a:r>
            <a:r>
              <a:rPr lang="en-US" altLang="ko-KR" sz="120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as </a:t>
            </a:r>
            <a:r>
              <a:rPr lang="ko-KR" altLang="en-US" sz="120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논문에서는 직접 </a:t>
            </a:r>
            <a:r>
              <a:rPr lang="ko-KR" altLang="en-US" sz="120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커스터</a:t>
            </a:r>
            <a:r>
              <a:rPr lang="ko-KR" altLang="en-US" sz="120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서브모듈을</a:t>
            </a:r>
            <a:r>
              <a:rPr lang="ko-KR" altLang="en-US" sz="120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 만들어 </a:t>
            </a:r>
            <a:r>
              <a:rPr lang="en-US" altLang="ko-KR" sz="120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AttnLRP</a:t>
            </a:r>
            <a:r>
              <a:rPr lang="en-US" altLang="ko-KR" sz="120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z="120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규칙에 맞는 </a:t>
            </a:r>
            <a:r>
              <a:rPr lang="en-US" altLang="ko-KR" sz="120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backward </a:t>
            </a:r>
            <a:r>
              <a:rPr lang="ko-KR" altLang="en-US" sz="120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함수를 구현</a:t>
            </a:r>
            <a:r>
              <a:rPr lang="en-US" altLang="ko-KR" sz="120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. (</a:t>
            </a:r>
            <a:r>
              <a:rPr lang="en-US" altLang="ko-KR" sz="120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monkey_patch</a:t>
            </a:r>
            <a:r>
              <a:rPr lang="ko-KR" altLang="en-US" sz="120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는 같은 저자 그룹이 이 문제를 해결하기 위해 나중에 배포한 것</a:t>
            </a:r>
            <a:r>
              <a:rPr lang="en-US" altLang="ko-KR" sz="120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en-US" altLang="ko-KR" sz="1200" b="0" i="0" dirty="0">
              <a:solidFill>
                <a:srgbClr val="8B9099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1363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2DAD-5AA6-B643-1D67-8345DD01E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F932A-4DCC-109D-03AB-56FDBB0D3A3F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>
                <a:latin typeface="프리젠테이션 5 Medium" pitchFamily="2" charset="-127"/>
                <a:ea typeface="프리젠테이션 5 Medium" pitchFamily="2" charset="-127"/>
              </a:rPr>
              <a:t>결론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9A3832-75B7-2DF7-0F83-3D0FAAD04357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Read/Control head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는 분리되어 있고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, Edge Knockout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은 효과가 있다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.</a:t>
            </a:r>
            <a:endParaRPr lang="ko-KR" altLang="en-US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AE40D4-A769-AE3B-4937-89C3AAD00BE7}"/>
              </a:ext>
            </a:extLst>
          </p:cNvPr>
          <p:cNvSpPr/>
          <p:nvPr/>
        </p:nvSpPr>
        <p:spPr>
          <a:xfrm>
            <a:off x="914400" y="1932671"/>
            <a:ext cx="1188720" cy="843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mbria" pitchFamily="34" charset="-120"/>
              </a:rPr>
              <a:t>01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EFAEF30F-787D-4C55-5211-73C093AC271E}"/>
              </a:ext>
            </a:extLst>
          </p:cNvPr>
          <p:cNvSpPr/>
          <p:nvPr/>
        </p:nvSpPr>
        <p:spPr>
          <a:xfrm>
            <a:off x="914400" y="3308612"/>
            <a:ext cx="1188720" cy="843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mbria" pitchFamily="34" charset="-120"/>
              </a:rPr>
              <a:t>02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6C60B18C-51CF-EE85-F38F-F34D5C10AC8A}"/>
              </a:ext>
            </a:extLst>
          </p:cNvPr>
          <p:cNvSpPr/>
          <p:nvPr/>
        </p:nvSpPr>
        <p:spPr>
          <a:xfrm>
            <a:off x="914400" y="4695137"/>
            <a:ext cx="1188720" cy="843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mbria" pitchFamily="34" charset="-120"/>
              </a:rPr>
              <a:t>03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F1E7171E-89DB-4EE2-0409-0959C6846578}"/>
              </a:ext>
            </a:extLst>
          </p:cNvPr>
          <p:cNvSpPr/>
          <p:nvPr/>
        </p:nvSpPr>
        <p:spPr>
          <a:xfrm>
            <a:off x="1988820" y="2073351"/>
            <a:ext cx="9692640" cy="562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Read head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와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control head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는 실제로 분리되어 있고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jaccard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0.18~0.38),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내부 행동과 외부 행동은 비슷한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control head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집합을 공유한다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jaccard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0.48~0.60)</a:t>
            </a: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4CD0CAEB-8815-A060-A011-75F8370C80C0}"/>
              </a:ext>
            </a:extLst>
          </p:cNvPr>
          <p:cNvSpPr/>
          <p:nvPr/>
        </p:nvSpPr>
        <p:spPr>
          <a:xfrm>
            <a:off x="1988820" y="3449292"/>
            <a:ext cx="9692640" cy="562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control head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의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D_inj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방향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attention edge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만 끊어도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정상 기능은 그대로 둔 채 공격을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k=20~40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안에 효과적으로 억제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Calibri" pitchFamily="34" charset="-120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8C193C15-F4F0-3BF4-7C3B-772A0C80831A}"/>
              </a:ext>
            </a:extLst>
          </p:cNvPr>
          <p:cNvSpPr/>
          <p:nvPr/>
        </p:nvSpPr>
        <p:spPr>
          <a:xfrm>
            <a:off x="1988820" y="4839229"/>
            <a:ext cx="9692640" cy="562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완전히 다른 실제 벤치마크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(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InjecAgent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에는 부분적으로만 전이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프리젠테이션 5 Medium" pitchFamily="2" charset="-127"/>
              <a:ea typeface="프리젠테이션 5 Medium" pitchFamily="2" charset="-127"/>
              <a:cs typeface="Calibri" pitchFamily="34" charset="-120"/>
            </a:endParaRPr>
          </a:p>
          <a:p>
            <a:pPr defTabSz="914400">
              <a:lnSpc>
                <a:spcPct val="120000"/>
              </a:lnSpc>
              <a:defRPr/>
            </a:pP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</a:rPr>
              <a:t>Qwen2.5-7B : (malicious) </a:t>
            </a:r>
            <a:r>
              <a:rPr lang="en-US" altLang="ko-KR" sz="160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0.5237</a:t>
            </a:r>
            <a:r>
              <a:rPr lang="en-US" altLang="ko-KR" sz="160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ko-KR" altLang="en-US" sz="160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→</a:t>
            </a:r>
            <a:r>
              <a:rPr lang="en-US" altLang="ko-KR" sz="160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en-US" altLang="ko-KR" sz="160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0.1300</a:t>
            </a:r>
          </a:p>
        </p:txBody>
      </p:sp>
    </p:spTree>
    <p:extLst>
      <p:ext uri="{BB962C8B-B14F-4D97-AF65-F5344CB8AC3E}">
        <p14:creationId xmlns:p14="http://schemas.microsoft.com/office/powerpoint/2010/main" val="377376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177C468-DE04-5456-4313-8DD2291994FD}"/>
              </a:ext>
            </a:extLst>
          </p:cNvPr>
          <p:cNvSpPr>
            <a:spLocks noGrp="1"/>
          </p:cNvSpPr>
          <p:nvPr>
            <p:ph type="title" idx="102"/>
          </p:nvPr>
        </p:nvSpPr>
        <p:spPr>
          <a:xfrm>
            <a:off x="195943" y="2480854"/>
            <a:ext cx="11551920" cy="1097280"/>
          </a:xfrm>
        </p:spPr>
        <p:txBody>
          <a:bodyPr/>
          <a:lstStyle/>
          <a:p>
            <a:r>
              <a:rPr lang="en-US" altLang="ko-KR" sz="4800" dirty="0">
                <a:latin typeface="프리젠테이션 5 Medium" pitchFamily="2" charset="-127"/>
                <a:ea typeface="프리젠테이션 5 Medium" pitchFamily="2" charset="-127"/>
              </a:rPr>
              <a:t>Read Head,</a:t>
            </a:r>
            <a:r>
              <a:rPr lang="ko-KR" altLang="en-US" sz="4800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z="4800" dirty="0">
                <a:latin typeface="프리젠테이션 5 Medium" pitchFamily="2" charset="-127"/>
                <a:ea typeface="프리젠테이션 5 Medium" pitchFamily="2" charset="-127"/>
              </a:rPr>
              <a:t>Control Head</a:t>
            </a:r>
            <a:r>
              <a:rPr lang="ko-KR" altLang="en-US" sz="4800" dirty="0">
                <a:latin typeface="프리젠테이션 5 Medium" pitchFamily="2" charset="-127"/>
                <a:ea typeface="프리젠테이션 5 Medium" pitchFamily="2" charset="-127"/>
              </a:rPr>
              <a:t> 분리 </a:t>
            </a:r>
            <a:r>
              <a:rPr lang="en-US" altLang="ko-KR" sz="4800" dirty="0">
                <a:latin typeface="프리젠테이션 5 Medium" pitchFamily="2" charset="-127"/>
                <a:ea typeface="프리젠테이션 5 Medium" pitchFamily="2" charset="-127"/>
              </a:rPr>
              <a:t>PoC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AE1255-7519-D80E-B995-55F7E828629E}"/>
              </a:ext>
            </a:extLst>
          </p:cNvPr>
          <p:cNvSpPr>
            <a:spLocks noGrp="1"/>
          </p:cNvSpPr>
          <p:nvPr>
            <p:ph type="body" idx="103"/>
          </p:nvPr>
        </p:nvSpPr>
        <p:spPr>
          <a:xfrm>
            <a:off x="1728652" y="3429000"/>
            <a:ext cx="8486502" cy="457200"/>
          </a:xfrm>
        </p:spPr>
        <p:txBody>
          <a:bodyPr>
            <a:normAutofit fontScale="92500"/>
          </a:bodyPr>
          <a:lstStyle/>
          <a:p>
            <a:r>
              <a:rPr lang="en-US" altLang="ko-KR" sz="2400" dirty="0" err="1">
                <a:solidFill>
                  <a:srgbClr val="5FB8C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AgentDojo</a:t>
            </a:r>
            <a:r>
              <a:rPr lang="en-US" altLang="ko-KR" sz="2400" dirty="0">
                <a:solidFill>
                  <a:srgbClr val="5FB8C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 </a:t>
            </a:r>
            <a:r>
              <a:rPr lang="ko-KR" altLang="en-US" sz="2400" dirty="0">
                <a:solidFill>
                  <a:srgbClr val="5FB8C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네이티브 평가 도입  </a:t>
            </a:r>
            <a:r>
              <a:rPr lang="en-US" altLang="ko-KR" sz="2400" dirty="0">
                <a:solidFill>
                  <a:srgbClr val="5FB8C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·  head </a:t>
            </a:r>
            <a:r>
              <a:rPr lang="ko-KR" altLang="en-US" sz="2400" dirty="0">
                <a:solidFill>
                  <a:srgbClr val="5FB8C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탐색 방법론 재설계  </a:t>
            </a:r>
            <a:r>
              <a:rPr lang="en-US" altLang="ko-KR" sz="2400" dirty="0">
                <a:solidFill>
                  <a:srgbClr val="5FB8C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·  proxy </a:t>
            </a:r>
            <a:r>
              <a:rPr lang="ko-KR" altLang="en-US" sz="2400" dirty="0">
                <a:solidFill>
                  <a:srgbClr val="5FB8C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지표 </a:t>
            </a:r>
            <a:r>
              <a:rPr lang="ko-KR" altLang="en-US" sz="2400" dirty="0" err="1">
                <a:solidFill>
                  <a:srgbClr val="5FB8C4"/>
                </a:solidFill>
                <a:latin typeface="프리젠테이션 5 Medium" pitchFamily="2" charset="-127"/>
                <a:ea typeface="프리젠테이션 5 Medium" pitchFamily="2" charset="-127"/>
                <a:cs typeface="Calibri" pitchFamily="34" charset="-120"/>
              </a:rPr>
              <a:t>재검증</a:t>
            </a:r>
            <a:endParaRPr lang="ko-KR" altLang="en-US" sz="2400" dirty="0">
              <a:solidFill>
                <a:srgbClr val="5FB8C4"/>
              </a:solidFill>
              <a:latin typeface="프리젠테이션 5 Medium" pitchFamily="2" charset="-127"/>
              <a:ea typeface="프리젠테이션 5 Medium" pitchFamily="2" charset="-127"/>
              <a:cs typeface="Calibri" pitchFamily="34" charset="-120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C17B35-4365-F89F-F120-6110CE71454E}"/>
              </a:ext>
            </a:extLst>
          </p:cNvPr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</a:rPr>
              <a:t>원종빈</a:t>
            </a:r>
          </a:p>
        </p:txBody>
      </p:sp>
    </p:spTree>
    <p:extLst>
      <p:ext uri="{BB962C8B-B14F-4D97-AF65-F5344CB8AC3E}">
        <p14:creationId xmlns:p14="http://schemas.microsoft.com/office/powerpoint/2010/main" val="3270782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D78F2-5014-4F22-6A28-9B6CA957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1AB6D-260C-ABC6-7FAB-87259C5AC458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3600" dirty="0">
                <a:latin typeface="프리젠테이션 5 Medium" pitchFamily="2" charset="-127"/>
                <a:ea typeface="프리젠테이션 5 Medium" pitchFamily="2" charset="-127"/>
              </a:rPr>
              <a:t>이전 내용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37DF72-2D17-D200-1493-5DC9A457AEB3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1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차 발표 요약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— 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가설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· 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개입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· 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그때의 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684A8A-D965-C1D1-DAC8-3C08D97A990A}"/>
              </a:ext>
            </a:extLst>
          </p:cNvPr>
          <p:cNvSpPr txBox="1"/>
          <p:nvPr/>
        </p:nvSpPr>
        <p:spPr>
          <a:xfrm>
            <a:off x="3796146" y="1949678"/>
            <a:ext cx="459940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정상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지시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] + [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외부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데이터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sz="1400" b="0" i="0" dirty="0" err="1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공격자</a:t>
            </a:r>
            <a:r>
              <a:rPr sz="1400" b="0" i="0" dirty="0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명령</a:t>
            </a:r>
            <a:r>
              <a:rPr sz="1400" b="0" i="0" dirty="0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삽입</a:t>
            </a:r>
            <a:r>
              <a:rPr sz="1400" b="0" i="0" dirty="0">
                <a:solidFill>
                  <a:srgbClr val="C06A1F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] → </a:t>
            </a:r>
            <a:r>
              <a:rPr sz="1400" b="1" i="0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sz="1400" b="0" i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</a:rPr>
              <a:t> → </a:t>
            </a:r>
            <a:r>
              <a:rPr sz="1400" b="0" i="0" dirty="0" err="1">
                <a:solidFill>
                  <a:srgbClr val="C1442A"/>
                </a:solidFill>
                <a:latin typeface="프리젠테이션 5 Medium" pitchFamily="2" charset="-127"/>
                <a:ea typeface="프리젠테이션 5 Medium" pitchFamily="2" charset="-127"/>
              </a:rPr>
              <a:t>공격</a:t>
            </a:r>
            <a:r>
              <a:rPr sz="1400" b="0" i="0" dirty="0">
                <a:solidFill>
                  <a:srgbClr val="C1442A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sz="1400" b="0" i="0" dirty="0" err="1">
                <a:solidFill>
                  <a:srgbClr val="C1442A"/>
                </a:solidFill>
                <a:latin typeface="프리젠테이션 5 Medium" pitchFamily="2" charset="-127"/>
                <a:ea typeface="프리젠테이션 5 Medium" pitchFamily="2" charset="-127"/>
              </a:rPr>
              <a:t>실행</a:t>
            </a:r>
            <a:endParaRPr sz="1400" b="0" i="0" dirty="0">
              <a:solidFill>
                <a:srgbClr val="C1442A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B0442E96-98ED-E09A-AA65-200C13D80439}"/>
              </a:ext>
            </a:extLst>
          </p:cNvPr>
          <p:cNvSpPr/>
          <p:nvPr/>
        </p:nvSpPr>
        <p:spPr>
          <a:xfrm>
            <a:off x="640080" y="2487168"/>
            <a:ext cx="5321808" cy="1207008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86DF1-D05A-BDF5-936B-B1B7CEF36E14}"/>
              </a:ext>
            </a:extLst>
          </p:cNvPr>
          <p:cNvSpPr txBox="1"/>
          <p:nvPr/>
        </p:nvSpPr>
        <p:spPr>
          <a:xfrm>
            <a:off x="868680" y="2670048"/>
            <a:ext cx="4864608" cy="6647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dirty="0" err="1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가설</a:t>
            </a:r>
            <a:r>
              <a:rPr sz="1600" b="1" dirty="0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— Read Head ≠ Control Head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외부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데이터의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내용을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읽는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head와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, 그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속의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명령을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실행에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옮기는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head가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분리되어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있다</a:t>
            </a:r>
            <a:endParaRPr sz="1200" b="0" dirty="0">
              <a:solidFill>
                <a:srgbClr val="565C66"/>
              </a:solidFill>
              <a:latin typeface="프리젠테이션 5 Medium" pitchFamily="2" charset="-127"/>
              <a:ea typeface="프리젠테이션 5 Medium" pitchFamily="2" charset="-127"/>
              <a:cs typeface="Malgun Gothic"/>
            </a:endParaRP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438D0DCA-727C-02F6-B009-AD8A7912A8EF}"/>
              </a:ext>
            </a:extLst>
          </p:cNvPr>
          <p:cNvSpPr/>
          <p:nvPr/>
        </p:nvSpPr>
        <p:spPr>
          <a:xfrm>
            <a:off x="6227064" y="2487168"/>
            <a:ext cx="5321808" cy="1207008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6A06FC-7D22-7A49-6AF1-ED729061F2E8}"/>
              </a:ext>
            </a:extLst>
          </p:cNvPr>
          <p:cNvSpPr txBox="1"/>
          <p:nvPr/>
        </p:nvSpPr>
        <p:spPr>
          <a:xfrm>
            <a:off x="6455664" y="2670048"/>
            <a:ext cx="4969718" cy="6647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 dirty="0" err="1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개입</a:t>
            </a:r>
            <a:r>
              <a:rPr sz="1600" b="1" dirty="0">
                <a:solidFill>
                  <a:srgbClr val="2F6FCE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— Edge Knockout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head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전체를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끄지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않고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, 그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head의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D_inj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방향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attention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edge만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pre-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softmax에서</a:t>
            </a:r>
            <a:r>
              <a:rPr sz="1200" b="0" dirty="0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565C66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차단</a:t>
            </a:r>
            <a:endParaRPr sz="1200" b="0" dirty="0">
              <a:solidFill>
                <a:srgbClr val="565C66"/>
              </a:solidFill>
              <a:latin typeface="프리젠테이션 5 Medium" pitchFamily="2" charset="-127"/>
              <a:ea typeface="프리젠테이션 5 Medium" pitchFamily="2" charset="-127"/>
              <a:cs typeface="Malgun Gothic"/>
            </a:endParaRPr>
          </a:p>
        </p:txBody>
      </p:sp>
      <p:graphicFrame>
        <p:nvGraphicFramePr>
          <p:cNvPr id="14" name="Table 10">
            <a:extLst>
              <a:ext uri="{FF2B5EF4-FFF2-40B4-BE49-F238E27FC236}">
                <a16:creationId xmlns:a16="http://schemas.microsoft.com/office/drawing/2014/main" id="{075CC660-F717-F483-35A4-8C206AF3F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822929"/>
              </p:ext>
            </p:extLst>
          </p:nvPr>
        </p:nvGraphicFramePr>
        <p:xfrm>
          <a:off x="640080" y="3913632"/>
          <a:ext cx="10908790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0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5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3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dirty="0" err="1">
                          <a:solidFill>
                            <a:srgbClr val="8B9099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데이터</a:t>
                      </a:r>
                      <a:endParaRPr sz="1400" b="1" dirty="0">
                        <a:solidFill>
                          <a:srgbClr val="8B9099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Malgun Gothic"/>
                      </a:endParaRP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8B9099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k=0 공격 성공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8B9099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knockout 후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8B9099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utility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 err="1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합성</a:t>
                      </a:r>
                      <a:r>
                        <a:rPr sz="1400" b="0" dirty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 30템플릿 (0.5B~7B)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0.91 ~ 1.00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400" b="1">
                          <a:solidFill>
                            <a:srgbClr val="C1442A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0.0000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유지 / 소폭 상승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합성 unseen 문구 4종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0.92 ~ 1.00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400" b="1" dirty="0">
                          <a:solidFill>
                            <a:srgbClr val="C1442A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0.0000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유지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InjecAgent 1,054개 (1.5B)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0.1894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0.0406  (4.7배↓)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(S9에서 </a:t>
                      </a:r>
                      <a:r>
                        <a:rPr sz="1400" b="0" dirty="0" err="1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무효</a:t>
                      </a:r>
                      <a:r>
                        <a:rPr sz="1400" b="0" dirty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판정</a:t>
                      </a:r>
                      <a:r>
                        <a:rPr sz="1400" b="0" dirty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InjecAgent 1,054개 (7B)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0.5237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400" b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0.1300  (4.0배↓)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400" b="0" dirty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(</a:t>
                      </a:r>
                      <a:r>
                        <a:rPr sz="1400" b="0" dirty="0" err="1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동일</a:t>
                      </a:r>
                      <a:r>
                        <a:rPr sz="1400" b="0" dirty="0">
                          <a:solidFill>
                            <a:srgbClr val="565C66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Malgun Gothic"/>
                        </a:rPr>
                        <a:t>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523C995-1A7C-8099-8D5E-A4FE2F2AA35B}"/>
              </a:ext>
            </a:extLst>
          </p:cNvPr>
          <p:cNvSpPr txBox="1"/>
          <p:nvPr/>
        </p:nvSpPr>
        <p:spPr>
          <a:xfrm>
            <a:off x="640080" y="5870448"/>
            <a:ext cx="10908792" cy="2025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당시</a:t>
            </a:r>
            <a:r>
              <a:rPr sz="1200" b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결론</a:t>
            </a:r>
            <a:r>
              <a:rPr sz="1200" b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: </a:t>
            </a:r>
            <a:r>
              <a:rPr sz="1200" b="1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"read </a:t>
            </a:r>
            <a:r>
              <a:rPr sz="1200" b="1" dirty="0" err="1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head와</a:t>
            </a:r>
            <a:r>
              <a:rPr sz="1200" b="1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control </a:t>
            </a:r>
            <a:r>
              <a:rPr sz="1200" b="1" dirty="0" err="1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head는</a:t>
            </a:r>
            <a:r>
              <a:rPr sz="1200" b="1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1" dirty="0" err="1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분리되어</a:t>
            </a:r>
            <a:r>
              <a:rPr sz="1200" b="1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</a:t>
            </a:r>
            <a:r>
              <a:rPr sz="1200" b="1" dirty="0" err="1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있다</a:t>
            </a:r>
            <a:r>
              <a:rPr sz="1200" b="1" dirty="0">
                <a:solidFill>
                  <a:srgbClr val="16181D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"</a:t>
            </a:r>
            <a:r>
              <a:rPr sz="1200" b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   —   </a:t>
            </a:r>
            <a:r>
              <a:rPr sz="1200" b="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jaccard</a:t>
            </a:r>
            <a:r>
              <a:rPr sz="1200" b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(read,·) 0.18~0.38  vs  </a:t>
            </a:r>
            <a:r>
              <a:rPr sz="1200" b="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jaccard</a:t>
            </a:r>
            <a:r>
              <a:rPr sz="1200" b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(</a:t>
            </a:r>
            <a:r>
              <a:rPr sz="1200" b="0" dirty="0" err="1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internal,external</a:t>
            </a:r>
            <a:r>
              <a:rPr sz="1200" b="0" dirty="0">
                <a:solidFill>
                  <a:srgbClr val="8B9099"/>
                </a:solidFill>
                <a:latin typeface="프리젠테이션 5 Medium" pitchFamily="2" charset="-127"/>
                <a:ea typeface="프리젠테이션 5 Medium" pitchFamily="2" charset="-127"/>
                <a:cs typeface="Malgun Gothic"/>
              </a:rPr>
              <a:t>) 0.48~0.60</a:t>
            </a:r>
          </a:p>
        </p:txBody>
      </p:sp>
    </p:spTree>
    <p:extLst>
      <p:ext uri="{BB962C8B-B14F-4D97-AF65-F5344CB8AC3E}">
        <p14:creationId xmlns:p14="http://schemas.microsoft.com/office/powerpoint/2010/main" val="203872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01 · 이전 내용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받은 피드백 — 세 지시가 사실은 같은 문제의 세 얼굴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1" cy="1609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5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3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피드백 (2026-07-29)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대응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슬라이드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AgentDojo로 재현 + utility 측정 제대로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Track A(탐색) / Track B(네이티브 평가) 신규 구축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S6 ~ S8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 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 그룹 2개 vs 데이터셋 모드 4개, read_injected는 왜?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 재정리 (문서·코드 주석)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 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attention head 찾는 방법 체계화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자체 진단 5종 + 3소스 비교로 재설계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S5, S7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520440"/>
            <a:ext cx="10908792" cy="21488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730752"/>
            <a:ext cx="10360152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①과 ③을 하나로 통합한 이유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1차 발표 P2-d에서 이미 </a:t>
            </a:r>
            <a:r>
              <a:rPr sz="12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합성 head 단독 / InjecAgent head 단독 / 교집합 세 조건이 거의 동일한 성능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을 냈다 (jaccard 0.36).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→ "합성으로 찾은 head를 실제 벤치마크에 전이"시키는 지금 구조가 합성 데이터의 한계(노골적 문구·단순 문서 구조)를 그대로 상속할 수 있다는 신호.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→ 그렇다면 AgentDojo는 </a:t>
            </a:r>
            <a:r>
              <a:rPr sz="120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단순 재현 대상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이 아니라 </a:t>
            </a:r>
            <a:r>
              <a:rPr sz="12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head 탐색 소스 자체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로 삼아야 한다. 두 지시는 같은 작업이었다.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아래 S4~S9는 이 로드맵을 ② → ③ → ① 순서로 따라간다.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피드백 ②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"정상 vs 침입"이 아니라 "침입의 두 실행 경로"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5897879" cy="20427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3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7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개수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목록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relevance 계산 단위(조사)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read, internal, external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교집합(선정)에 쓰는 것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internal, external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 dirty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key span(</a:t>
                      </a:r>
                      <a:r>
                        <a:rPr sz="1050" b="0" dirty="0" err="1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창문</a:t>
                      </a:r>
                      <a:r>
                        <a:rPr sz="1050" b="0" dirty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</a:t>
                      </a:r>
                      <a:r>
                        <a:rPr sz="1050" b="0" dirty="0" err="1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  <a:endParaRPr sz="1050" b="0" dirty="0">
                        <a:solidFill>
                          <a:srgbClr val="565C6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data_benign, data_inj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프롬프트 모드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 dirty="0" err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read_clean</a:t>
                      </a:r>
                      <a:r>
                        <a:rPr sz="1050" b="1" dirty="0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</a:t>
                      </a:r>
                      <a:r>
                        <a:rPr sz="1050" b="1" dirty="0" err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read_injected</a:t>
                      </a:r>
                      <a:r>
                        <a:rPr sz="1050" b="1" dirty="0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
internal, external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66560" y="1691640"/>
            <a:ext cx="4782312" cy="118872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4304" y="1856231"/>
            <a:ext cx="43068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internal / external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둘 다 data_inj를 본다.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차이는 backward 타깃뿐 — 자유 텍스트로 새는 경로 vs tool-call로 새는 경로.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017520"/>
            <a:ext cx="4782312" cy="141732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04304" y="3200400"/>
            <a:ext cx="430682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read_injected는 왜 있나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head 탐색에는 </a:t>
            </a:r>
            <a:r>
              <a:rPr sz="11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안 쓴다.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knockout 후 utility 검증 전용. read_clean은 숨은 명령이 없어 끊을 edge 자체가 없어 이 검증에 못 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63440"/>
            <a:ext cx="10908792" cy="123444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다만 — 이 2×2 구조는 합성 데이터셋에서만 성립한다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InjecAgent · AgentDojo는 tool-calling 단일 포맷이라 internal/external 구분이 구조상 없다. → S7에서 교집합의 기준을 채널 축에서 소스 축으로 교체하게 되는 근거.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혼동의 원인: "키 그룹"이라는 말이 조사 개수(3) · 선정에 쓰는 그룹 수(2) · span 종류(2) · 프롬프트 모드 수(4)를 동시에 가리키고 있었다.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피드백 ③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먼저 자체 진단 — 지금까지의 결론이 유효한가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1" cy="235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5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진단 항목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랜덤 head 기준선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선정 head(9~14개): k=10 안에 0.9118 → </a:t>
                      </a: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0.0000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  /   랜덤 동수: k=40까지도 </a:t>
                      </a: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0.6448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jaccard 우연 기준선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0.538  vs  우연 기대 0.031  →  </a:t>
                      </a:r>
                      <a:r>
                        <a:rPr sz="110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17.6배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top-K sweep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K=10(교집합 9개)에서 이미 완전 억제. K=20은 임계점이 아니고 K≥10이면 충분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dual-use head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control_heads_both 14개 중 </a:t>
                      </a: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9개가 read top-20과도 겹침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layer 0 지배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14개 중 </a:t>
                      </a: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6개가 layer 0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(layer 0은 head가 12개뿐 → 절반이 차단됨)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389120"/>
            <a:ext cx="10908792" cy="160020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590288"/>
            <a:ext cx="10360152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1차 발표의 주장 하나를 철회합니다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"read head와 control head는 </a:t>
            </a:r>
            <a:r>
              <a:rPr sz="120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분리되어 있다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" → </a:t>
            </a:r>
            <a:r>
              <a:rPr sz="12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"internal-external끼리의 겹침(0.538)이 read와의 겹침(0.29 / 0.33)보다 뚜렷이 크다"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는 상대적 주장까지만 성립.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동시에 확인된 것: head 선정 자체는 랜덤 대비 뚜렷이 유효하다 → 합성 데이터셋은 discovery(탐색) 전용으로 계속 쓰고, 성능 수치는 AgentDojo 네이티브 채점에 맡기기로 결정.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Qwen2.5-1.5B · 템플릿 30개 전체 · 전부 forward-only (비용 거의 없음)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피드백 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AgentDojo를 어떻게 붙였나 — 탐색과 평가를 분리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6400800" cy="169164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920240"/>
            <a:ext cx="599846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6181D"/>
                </a:solidFill>
                <a:latin typeface="Consolas"/>
                <a:ea typeface="Consolas"/>
                <a:cs typeface="Consolas"/>
              </a:rPr>
              <a:t>                ┌─ Track A (탐색)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F6FCE"/>
                </a:solidFill>
                <a:latin typeface="Consolas"/>
                <a:ea typeface="Consolas"/>
                <a:cs typeface="Consolas"/>
              </a:rPr>
              <a:t>  AgentDojo ────┤   단일 턴으로 잘라 relevance 계산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16181D"/>
                </a:solidFill>
                <a:latin typeface="Consolas"/>
                <a:ea typeface="Consolas"/>
                <a:cs typeface="Consolas"/>
              </a:rPr>
              <a:t>                └─ Track B (평가)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                    멀티턴 agent loop + 네이티브 채점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691640"/>
            <a:ext cx="4187952" cy="169164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98664" y="1874519"/>
            <a:ext cx="3712463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왜 나눴나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탐색은 backward가 필요해 단일 턴이어야 하고, 평가는 반대로 실제 멀티턴이어야 의미가 있다 — 두 요구가 양립 불가.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66160"/>
            <a:ext cx="6400800" cy="141732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3749039"/>
            <a:ext cx="592531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네이티브 채점이란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모델 출력 토큰 확률이 아니라, tool을 </a:t>
            </a:r>
            <a:r>
              <a:rPr sz="11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실제로 실행한 뒤 환경 상태(계좌 잔액·전송된 메일)를 검사하는 결정론적 함수.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교수님이 말씀하신 "제대로 된 성능 측정"에 대한 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566160"/>
            <a:ext cx="41879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Track A 어댑터에서 걸린 문제 3가지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60920" y="3913632"/>
          <a:ext cx="4187951" cy="1298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9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문제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해결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YAML 개행 정규화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&lt;INFORMATION&gt; 태그를 앵커로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인자 오염형 공격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case 제외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 충돌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 id 기준 재필터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Track A: 4개 suite 949조합 → 필터 통과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220쌍</a:t>
            </a: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       Track B: KnockoutLocalLLM으로 우리 HF 모델을 agentdojo 파이프라인에 직접 끼워, 롤아웃 내내 D_inj edge를 차단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head 탐색 재설계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3소스 head 비교 — 채널 축에서 소스 축으로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5120640" cy="1444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jaccard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우연 대비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synthetic ↔ InjecAgent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0.308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12.2배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synthetic ↔ AgentDojo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0.214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8.5배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InjecAgent ↔ AgentDojo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0.290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9.5배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828800" y="3310128"/>
            <a:ext cx="1783080" cy="1783080"/>
          </a:xfrm>
          <a:prstGeom prst="ellipse">
            <a:avLst/>
          </a:prstGeom>
          <a:solidFill>
            <a:srgbClr val="2F6FCE">
              <a:alpha val="22000"/>
            </a:srgbClr>
          </a:solidFill>
          <a:ln w="15875">
            <a:solidFill>
              <a:srgbClr val="2F6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862072" y="3310128"/>
            <a:ext cx="1783080" cy="1783080"/>
          </a:xfrm>
          <a:prstGeom prst="ellipse">
            <a:avLst/>
          </a:prstGeom>
          <a:solidFill>
            <a:srgbClr val="C06A1F">
              <a:alpha val="22000"/>
            </a:srgbClr>
          </a:solidFill>
          <a:ln w="15875">
            <a:solidFill>
              <a:srgbClr val="C0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345436" y="4224528"/>
            <a:ext cx="1783080" cy="1783080"/>
          </a:xfrm>
          <a:prstGeom prst="ellipse">
            <a:avLst/>
          </a:prstGeom>
          <a:solidFill>
            <a:srgbClr val="C1442A">
              <a:alpha val="22000"/>
            </a:srgbClr>
          </a:solidFill>
          <a:ln w="15875">
            <a:solidFill>
              <a:srgbClr val="C14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4041648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synthetic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404164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InjecAgent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60807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AgentDojo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4343400"/>
            <a:ext cx="868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651760"/>
            <a:ext cx="5513832" cy="141732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4" y="2834640"/>
            <a:ext cx="5038344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새 질문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교집합의 기준을 채널(internal/external)에서 </a:t>
            </a:r>
            <a:r>
              <a:rPr sz="11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소스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로 바꿨다 — </a:t>
            </a:r>
            <a:r>
              <a:rPr sz="11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"어느 소스로 찾은 head가 다른 소스에도 전이되는가."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206240"/>
            <a:ext cx="5513832" cy="16916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72784" y="4407408"/>
            <a:ext cx="5038344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3소스 교집합 5개가 전부 layer 0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(0,1)  (0,3)  (0,6)  (0,7)  (0,10)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S5의 </a:t>
            </a:r>
            <a:r>
              <a:rPr sz="11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layer 0 지배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우려가 소스를 3개로 늘려도 그대로 유지된다.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집합 크기 synthetic 14 / InjecAgent 20 / AgentDojo 20  ·  3소스 합집합 36  ·  세 소스가 무관한 head를 찾은 건 아니지만(우연 대비 8~12배) 같지도 않다.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Track B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첫 멀티턴 신호 — 그리고 표본을 늘리려던 두 손잡이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5897879" cy="1115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5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2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Qwen2.5-7B (4bit) · 48쌍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utility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성공률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k=0  (방어 없음)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0.021  (1/48)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k=14  (knockout)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0.188  (변화 없음)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  (0/48)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66560" y="1691640"/>
            <a:ext cx="4782312" cy="1115568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04304" y="1856231"/>
            <a:ext cx="4306824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첫 실제 신호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유일하게 성공한 공격(slack/user_task_10)이 knockout으로 실패로 바뀌고, utility는 전혀 안 깎임.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27248"/>
            <a:ext cx="53218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손잡이 A — 공격 문구가 약해서인가?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474720"/>
          <a:ext cx="5321807" cy="1005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5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3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기법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요구하는 것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성공률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important_instructions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모델이 스스로 추론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0.021 (1/48)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tool·인자를 명시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0.022 (1/46)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892040"/>
            <a:ext cx="532180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1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아니다.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가장 노골적인 문구로 바꿔도 전체 성공률은 그대로.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3127248"/>
            <a:ext cx="532180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손잡이 B — 모델이 작아서인가?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27064" y="3474720"/>
          <a:ext cx="5321807" cy="1051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2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/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7B(4bit)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14B(4bit)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k=0 utility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0.267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k=0 공격 성공률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0.021 (1/48)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0.022 (1/45)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27064" y="4892040"/>
            <a:ext cx="532180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→ </a:t>
            </a:r>
            <a:r>
              <a:rPr sz="11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절반만 맞다.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utility는 오르지만(travel 0.00→0.11) 공격 성공률은 불변.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남은 문제: </a:t>
            </a: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48쌍 중 성공 공격이 1건이라 통계적으로는 아직 의미 없음. 16GB GPU의 실용 한계(14B-4bit)까지 이미 써버린 상태.      4 suite = banking / slack / travel / workspace, suite당 12쌍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핵심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같은 모델 · 같은 head, 세 가지 측정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908791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8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5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3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1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방식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무엇을 재는가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k=0 (방어 없음)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knockout 후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30개  (proxy)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토큰 확률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InjecAgent 1,054개  (proxy)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토큰 확률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0.3347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0.0463  (7.2배↓)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AgentDojo 45~48쌍  (네이티브)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06A1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실행 후 환경 상태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5844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baseline(k=0) 공격 성공률 — 같은 축으로 나란히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합성 (proxy)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4041648"/>
            <a:ext cx="6583680" cy="292608"/>
          </a:xfrm>
          <a:prstGeom prst="rect">
            <a:avLst/>
          </a:prstGeom>
          <a:solidFill>
            <a:srgbClr val="EC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4041648"/>
            <a:ext cx="6583680" cy="292608"/>
          </a:xfrm>
          <a:prstGeom prst="rect">
            <a:avLst/>
          </a:prstGeom>
          <a:solidFill>
            <a:srgbClr val="C1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31552" y="40690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100.0%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36008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InjecAgent (proxy)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608576"/>
            <a:ext cx="6583680" cy="292608"/>
          </a:xfrm>
          <a:prstGeom prst="rect">
            <a:avLst/>
          </a:prstGeom>
          <a:solidFill>
            <a:srgbClr val="EC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83280" y="4608576"/>
            <a:ext cx="2203557" cy="292608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31552" y="46360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33.5%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02936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AgentDojo (네이티브)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5175504"/>
            <a:ext cx="6583680" cy="292608"/>
          </a:xfrm>
          <a:prstGeom prst="rect">
            <a:avLst/>
          </a:prstGeom>
          <a:solidFill>
            <a:srgbClr val="EC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83280" y="5175504"/>
            <a:ext cx="138257" cy="292608"/>
          </a:xfrm>
          <a:prstGeom prst="rect">
            <a:avLst/>
          </a:prstGeom>
          <a:solidFill>
            <a:srgbClr val="2F6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31552" y="520293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2.1%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742432"/>
            <a:ext cx="10908792" cy="749808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925312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proxy 지표가 실제 공격 성공률을 크게 부풀리고 있었다.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  차이를 만드는 건 방어 효과가 아니라 </a:t>
            </a:r>
            <a:r>
              <a:rPr sz="12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측정 방법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이다 — "성능 측정 방법도 제대로 된 걸로" 지적이 정확했다는 실험적 증거.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28816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Qwen2.5-14B(bnb-4bit) · 동일한 13개 head · 합성 utility(read)는 0.9360 → 0.9515로 유지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이후 진행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현재 한계 — 다음 단계의 근거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1" cy="3163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0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한계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통계적 유의성 부족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48쌍 중 성공 공격 1건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 확대 필요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layer 0 지배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"명령 인식 회로" vs "초기 정보 대역폭 차단" 미구분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판별 실험 미설계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read / control 완전 분리 아님 (14개 중 9개 dual-use)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서술 수정 완료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데이터셋 content-availability 교란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discovery 전용으로 봉합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InjecAgent utility 지표는 </a:t>
                      </a:r>
                      <a:r>
                        <a:rPr sz="11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인용 불가</a:t>
                      </a: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ASR 감소의 산술적 뒷면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폐기 결정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오라클 스팬 — 배포 시엔 어느 토큰이 주입문인지 모름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미착수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인프라 — 메모리 누수는 우회만, travel suite OOM 잔존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 확대 시 재발 예상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349240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36015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5번이 </a:t>
            </a:r>
            <a:r>
              <a:rPr sz="12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AgentDojo로 가야 했던 핵심 이유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입니다 — 피드백 ①의 후반부("utility 측정 제대로")에 대한 저희 쪽 답이기도 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이후 진행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다음 단계 — 우선순위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708660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순위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 확대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(수백 쌍) — travel 배분 축소, 신호 나오는 banking/slack에 재배분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head 집합 결정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3소스 교집합 5개(전부 layer 0) vs 각 소스 단독 vs 합집합 36개를 Track B로 비교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top-K sweep + random baseline을 3소스 전부에 동일 적용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layer 0 지배 원인 규명</a:t>
                      </a: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명령 인식인가 정보 대역폭인가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AgentDojo baseline 공격 성공률이 왜 2%인지 규명 (모델 크기와 무관함은 확인됨)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결과를 methodology.md에 "Head Selection Methodology" 절로 통합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55279" y="1691640"/>
            <a:ext cx="3593592" cy="333756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3024" y="1892807"/>
            <a:ext cx="3118104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중장기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10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path patching으로 개별 head 인과성 검증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10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MMLU 등으로 collateral damage 측정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10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Llama 계열 교차 검증 (코드는 이미 지원)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10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오라클 스팬 제거 → 실전 배포 형태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10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합성 데이터셋 P8 (교란 제거)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30368"/>
            <a:ext cx="10908792" cy="1024128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431536"/>
            <a:ext cx="103601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2번이 풀리면 4번의 답도 같이 나온다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3소스 교집합 5개(전부 layer 0)만으로 효과가 나오는지가 갈림길입니다. 효과가 있으면 "layer 0 대역폭" 대안 가설이 오히려 강해지고, 없으면 배제됩니다.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결론과 논의 요청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53414" cy="169164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297792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한 것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피드백 3개 전부 대응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정의 정리 · 자체 진단 5종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AgentDojo Track A·B 신규 구축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7814" y="1691640"/>
            <a:ext cx="3453414" cy="169164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05558" y="1874519"/>
            <a:ext cx="297792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얻은 것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첫 멀티턴 네이티브 신호 (1/48 → 0/48)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3소스 head 비교 (교집합 5개)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proxy 지표가 부풀려졌다는 정량적 증거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5548" y="1691640"/>
            <a:ext cx="3453414" cy="169164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33292" y="1874519"/>
            <a:ext cx="297792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남은 것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표본 부족 (성공 공격 1건)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layer 0 지배 미규명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00" b="0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최종 head 집합 미결정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908792" cy="2212848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858768"/>
            <a:ext cx="1036015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여쭙고 싶은 것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11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① AgentDojo baseline 공격 성공률 2%를 어떻게 볼 것인가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 —  (a) 표본 확대에 예산을 더 쓴다   (b) "이 스케일에선 원래 잘 안 통한다"를 결과로 보고 다른 환경을 찾는다  →  </a:t>
            </a:r>
            <a:r>
              <a:rPr sz="11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저희 권장은 (a)+(b) 병행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② layer 0 지배를 가장 값싸게 판별할 실험은 무엇일까요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1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③ "완전 분리"를 포기할 때 이 연구의 기여를 무엇으로 서술할까</a:t>
            </a:r>
            <a:r>
              <a:rPr sz="11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 —  현재 후보: 분리가 아니라 </a:t>
            </a:r>
            <a:r>
              <a:rPr sz="11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"편중 + 최소 개입"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53328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이번 사이클의 실질적 성과는 방어 효과를 키운 게 아니라,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믿을 수 있는 자(尺)를 갖게 된 것</a:t>
            </a:r>
            <a:r>
              <a:rPr sz="105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3232</Words>
  <Application>Microsoft Office PowerPoint</Application>
  <PresentationFormat>와이드스크린</PresentationFormat>
  <Paragraphs>361</Paragraphs>
  <Slides>15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맑은 고딕</vt:lpstr>
      <vt:lpstr>맑은 고딕</vt:lpstr>
      <vt:lpstr>프리젠테이션 5 Medium</vt:lpstr>
      <vt:lpstr>Arial</vt:lpstr>
      <vt:lpstr>Calibri</vt:lpstr>
      <vt:lpstr>Consolas</vt:lpstr>
      <vt:lpstr>Office Theme</vt:lpstr>
      <vt:lpstr>개요</vt:lpstr>
      <vt:lpstr>방법론 - HEAD 탐색</vt:lpstr>
      <vt:lpstr>결론</vt:lpstr>
      <vt:lpstr>Read Head, Control Head 분리 PoC</vt:lpstr>
      <vt:lpstr>이전 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원종빈</cp:lastModifiedBy>
  <cp:revision>3</cp:revision>
  <dcterms:created xsi:type="dcterms:W3CDTF">2013-01-27T09:14:16Z</dcterms:created>
  <dcterms:modified xsi:type="dcterms:W3CDTF">2026-08-19T01:57:51Z</dcterms:modified>
  <cp:category/>
</cp:coreProperties>
</file>