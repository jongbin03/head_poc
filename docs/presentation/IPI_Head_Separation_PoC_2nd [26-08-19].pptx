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72" r:id="rId2"/>
    <p:sldId id="307" r:id="rId3"/>
    <p:sldId id="309" r:id="rId4"/>
    <p:sldId id="319" r:id="rId5"/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83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25DF27-A2B4-4C29-AA6B-ED937F5177BE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876B9C-CBFE-4096-A2AB-3680DEBDED8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80483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dirty="0"/>
              <a:t>안녕하십니까, 오늘 리뷰할 논문은 </a:t>
            </a:r>
            <a:r>
              <a:rPr lang="ko-KR" altLang="ko-KR" dirty="0" err="1"/>
              <a:t>NeurIPS</a:t>
            </a:r>
            <a:r>
              <a:rPr lang="ko-KR" altLang="ko-KR" dirty="0"/>
              <a:t> 2025에 게재된 "The </a:t>
            </a:r>
            <a:r>
              <a:rPr lang="ko-KR" altLang="ko-KR" dirty="0" err="1"/>
              <a:t>Atlas</a:t>
            </a:r>
            <a:r>
              <a:rPr lang="ko-KR" altLang="ko-KR" dirty="0"/>
              <a:t> of </a:t>
            </a:r>
            <a:r>
              <a:rPr lang="ko-KR" altLang="ko-KR" dirty="0" err="1"/>
              <a:t>In-Context</a:t>
            </a:r>
            <a:r>
              <a:rPr lang="ko-KR" altLang="ko-KR" dirty="0"/>
              <a:t> </a:t>
            </a:r>
            <a:r>
              <a:rPr lang="ko-KR" altLang="ko-KR" dirty="0" err="1"/>
              <a:t>Learning</a:t>
            </a:r>
            <a:r>
              <a:rPr lang="ko-KR" altLang="ko-KR" dirty="0"/>
              <a:t>: </a:t>
            </a:r>
            <a:r>
              <a:rPr lang="ko-KR" altLang="ko-KR" dirty="0" err="1"/>
              <a:t>How</a:t>
            </a:r>
            <a:r>
              <a:rPr lang="ko-KR" altLang="ko-KR" dirty="0"/>
              <a:t> </a:t>
            </a:r>
            <a:r>
              <a:rPr lang="ko-KR" altLang="ko-KR" dirty="0" err="1"/>
              <a:t>Attention</a:t>
            </a:r>
            <a:r>
              <a:rPr lang="ko-KR" altLang="ko-KR" dirty="0"/>
              <a:t> </a:t>
            </a:r>
            <a:r>
              <a:rPr lang="ko-KR" altLang="ko-KR" dirty="0" err="1"/>
              <a:t>Heads</a:t>
            </a:r>
            <a:r>
              <a:rPr lang="ko-KR" altLang="ko-KR" dirty="0"/>
              <a:t> </a:t>
            </a:r>
            <a:r>
              <a:rPr lang="ko-KR" altLang="ko-KR" dirty="0" err="1"/>
              <a:t>Shape</a:t>
            </a:r>
            <a:r>
              <a:rPr lang="ko-KR" altLang="ko-KR" dirty="0"/>
              <a:t> </a:t>
            </a:r>
            <a:r>
              <a:rPr lang="ko-KR" altLang="ko-KR" dirty="0" err="1"/>
              <a:t>In-Context</a:t>
            </a:r>
            <a:r>
              <a:rPr lang="ko-KR" altLang="ko-KR" dirty="0"/>
              <a:t> </a:t>
            </a:r>
            <a:r>
              <a:rPr lang="ko-KR" altLang="ko-KR" dirty="0" err="1"/>
              <a:t>Retrieval</a:t>
            </a:r>
            <a:r>
              <a:rPr lang="ko-KR" altLang="ko-KR" dirty="0"/>
              <a:t> </a:t>
            </a:r>
            <a:r>
              <a:rPr lang="ko-KR" altLang="ko-KR" dirty="0" err="1"/>
              <a:t>Augmentation"입니다</a:t>
            </a:r>
            <a:r>
              <a:rPr lang="ko-KR" altLang="ko-KR" dirty="0"/>
              <a:t>. 발표는 원종빈이 진행하겠습니다.</a:t>
            </a:r>
          </a:p>
        </p:txBody>
      </p:sp>
    </p:spTree>
    <p:extLst>
      <p:ext uri="{BB962C8B-B14F-4D97-AF65-F5344CB8AC3E}">
        <p14:creationId xmlns:p14="http://schemas.microsoft.com/office/powerpoint/2010/main" val="22204639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89875-3744-BF59-3D84-34C82465A8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FE420F7-4778-62FF-C0BB-E4DD217E9D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BAB230F-3E1B-9F38-CBB1-2957EDC189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에이전트가 이메일 본문이나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tool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실행 결과 같은 외부 데이터를 프롬프트에 그대로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넣어 처리할 때, 그 데이터 안에 공격자가 심어둔 명령문이 있으면 모델이 원래 사용자의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지시 대신 그 명령을 따라버리는 문제가 발생합니다. 이게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Indirect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Prompt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Injection입니다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저희 가설은 이렇습니다 — 모델 내부에서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attention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head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수준으로 봤을 때, 외부 데이터의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**내용을 읽는 데**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관여하는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head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그룹(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Read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Head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)과, 그 데이터 속 **명령을 실행에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옮기는 데** 관여하는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head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그룹(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Control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Head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)이 서로 분리되어 있을 것이라는 겁니다.</a:t>
            </a:r>
          </a:p>
          <a:p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분리되어 있다면,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Control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Head만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정밀하게 무력화해도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Read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Head의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정상 기능은 보존한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채로 공격만 막을 수 있습니다. 이걸 검증하는 방법은 두 단계입니다: 첫째,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relevance로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head를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찾고, 둘째, 그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head의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D_inj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방향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attention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edge만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끊습니다.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280036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A10B5-7D12-A73C-69BE-42083D187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72B2C2E-7822-8329-7654-1BF3DBA4C7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BAF05F3-99A6-2D48-A85E-CBA168B7A2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Head를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찾는 방법을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설명드리기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전에, 구현상 중요한 트릭 하나를 먼저 짚겠습니다.</a:t>
            </a:r>
          </a:p>
          <a:p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저희가 계산하려는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relevance는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그냥 표준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gradient가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아니라,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AttnLRP라는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방식으로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계산된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gradient여야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합니다. 그 이유는,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RMSNorm이나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gated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-MLP,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attention의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softmax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같은 비선형 연산을 일반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chain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rule로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미분하면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relevance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값이 발산하거나 소실돼서,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"실제로 얼마나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기여했는가"를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제대로 반영하지 못하기 때문입니다.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LRP는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이런 연산마다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별도의 보존적인 전파 규칙을 씁니다.</a:t>
            </a:r>
          </a:p>
          <a:p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화면의 코드를 보시면, `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lxt.efficient`의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`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monkey_patch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함수를 모델을 로드하기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**전에**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호출합니다. 이 한 줄이 하는 일은,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HuggingFace의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Qwen2 모델링 모듈 안에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있는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RMSNorm·gated-MLP·attention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서브모듈들의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backward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계산 함수 자체를,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AttnLRP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규칙에 맞는 버전으로 런타임에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바꿔치기하는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겁니다. 표준 `Qwen2ForCausalLM`을 그대로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쓰면서도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AttnLRP에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정합적인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backward를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얻을 수 있는 방법입니다.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331576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1E6A7-CEAD-BC6D-4834-E0D4C88B75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8BB5D62-DEA7-4156-9F27-5D7030FA3E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FB307F0-690C-E72A-CCFA-F0933F1B2C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정리하면 세 가지입니다.</a:t>
            </a:r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첫째,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Read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head와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Control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head는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실제로 분리되어 있고(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jaccard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0.18~0.38),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내부 행동과 외부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tool-call은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비슷한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control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head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집합을 공유합니다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jaccard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0.48~0.60).</a:t>
            </a:r>
          </a:p>
          <a:p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둘째,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Control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head의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D_inj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방향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attention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edge만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끊어도, 정상 기능은 그대로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둔 채 공격을 k=10에서 20 안에 효과적으로 억제합니다.</a:t>
            </a:r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셋째, 완전히 다른 실제 벤치마크인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InjecAgent에는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부분적으로만 전이됩니다.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Qwen2.5-7B 기준으로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malicious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확률이 0.5237에서 0.1300으로 줄었지만, 저희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합성 데이터만큼 완전히 억제되지는 않았습니다.</a:t>
            </a:r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발표 슬라이드 자체에는 "한계 및 다음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단계"가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따로 없어서, 질문이 나올 경우를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대비해 아래 내용을 기억해두시면 좋습니다 (원하시면 이 내용을 슬라이드로 추가한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보조 파일 `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IPI_Head_PoC_supplement.pptx`를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별도로 준비해 드렸습니다).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**"실전에서는 공격 위치를 미리 알아야 방어가 되는 거 아닌가요?"**</a:t>
            </a:r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→ 지금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edge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knockout은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매 요청마다 정확한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injection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span을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알아야 지우는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구조라, 말씀하신 지적이 맞습니다.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head를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"찾는" 단계는 라벨이 있는 데이터로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모델의 고정된 속성을 한 번 알아내는 것이라 문제없지만,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knockout을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적용"하는</a:t>
            </a:r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매 요청 단계에서 정확한 공격 문장 위치를 오라클처럼 안다고 가정한 건 단순화입니다.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실전에서 말이 되려면 "외부 데이터 채널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전체"를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knockout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대상으로 삼아야 하는데,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이 버전은 아직 검증하지 않았습니다.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**"P2-d(</a:t>
            </a:r>
            <a:r>
              <a:rPr lang="ko-KR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InjecAgent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자체 </a:t>
            </a:r>
            <a:r>
              <a:rPr lang="ko-KR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head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탐색)는 7B에서도 되나요?"**</a:t>
            </a:r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→ 아직 1.5B에서만 검증했습니다. `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compute_head_relevance`를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반복 호출할 때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GPU 메모리가 호출마다 누적되는 버그가 있어서, 60개 이상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InjecAgent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case에</a:t>
            </a:r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대해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gradient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기반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head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탐색을 여러 번 도는 이번 실험은 1.5B로만 완료했습니다.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**"</a:t>
            </a:r>
            <a:r>
              <a:rPr lang="ko-KR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jaccard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ko-KR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internal,external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)이 왜 이렇게 높나요?"**</a:t>
            </a:r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→ 아직 정확한 원인은 확인하지 못했고, 다음 단계(P3)로 계획하고 있습니다.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`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internal_heads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−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external_heads`와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그 반대(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대칭차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보면 "자유 텍스트로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낼지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tool-call로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낼지"를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가르는 채널 전용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head가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드러날 것으로 예상합니다.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**"이 방법이 GPT-4 같은 API 모델에도 적용되나요?"**</a:t>
            </a:r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→ 아니요.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attention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확률과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gradient를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직접 뽑고 모델링 코드를 패치해야 해서,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화이트박스로 접근 가능한 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오픈웨이트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모델을 로컬(또는 자체 서버)</a:t>
            </a:r>
            <a:r>
              <a:rPr lang="ko-KR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</a:t>
            </a:r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올려야만</a:t>
            </a:r>
          </a:p>
          <a:p>
            <a: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가능합니다. API 뒤에 있는 폐쇄형 모델에는 적용할 방법이 없습니다.</a:t>
            </a:r>
          </a:p>
          <a:p>
            <a:br>
              <a:rPr lang="ko-KR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ko-KR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548181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IR_COV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body" idx="101" hasCustomPrompt="1"/>
          </p:nvPr>
        </p:nvSpPr>
        <p:spPr>
          <a:xfrm>
            <a:off x="7824652" y="1712758"/>
            <a:ext cx="2257697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0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marL="0" indent="0">
              <a:buNone/>
            </a:pPr>
            <a:r>
              <a:rPr lang="en-US" sz="3000" b="1" dirty="0">
                <a:solidFill>
                  <a:srgbClr val="C9C9C9"/>
                </a:solidFill>
                <a:latin typeface="맑은 고딕" pitchFamily="34" charset="0"/>
                <a:ea typeface="맑은 고딕" pitchFamily="34" charset="-122"/>
              </a:rPr>
              <a:t>Lecture</a:t>
            </a:r>
            <a:r>
              <a:rPr lang="ko-KR" altLang="en-US" sz="3000" b="1" dirty="0">
                <a:solidFill>
                  <a:srgbClr val="C9C9C9"/>
                </a:solidFill>
                <a:latin typeface="맑은 고딕" pitchFamily="34" charset="0"/>
                <a:ea typeface="맑은 고딕" pitchFamily="34" charset="-122"/>
              </a:rPr>
              <a:t> </a:t>
            </a:r>
            <a:r>
              <a:rPr lang="en-US" altLang="ko-KR" sz="3000" b="1" dirty="0">
                <a:solidFill>
                  <a:srgbClr val="C9C9C9"/>
                </a:solidFill>
                <a:latin typeface="맑은 고딕" pitchFamily="34" charset="0"/>
                <a:ea typeface="맑은 고딕" pitchFamily="34" charset="-122"/>
              </a:rPr>
              <a:t>00</a:t>
            </a:r>
            <a:endParaRPr lang="en-US" sz="30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1857103" y="2480854"/>
            <a:ext cx="8229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5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marL="0" indent="0">
              <a:buNone/>
            </a:pPr>
            <a:r>
              <a:rPr lang="en-US" sz="5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</a:rPr>
              <a:t>Title</a:t>
            </a:r>
            <a:endParaRPr lang="en-US" sz="5600" dirty="0"/>
          </a:p>
        </p:txBody>
      </p:sp>
      <p:sp>
        <p:nvSpPr>
          <p:cNvPr id="5" name="Text 1"/>
          <p:cNvSpPr>
            <a:spLocks noGrp="1"/>
          </p:cNvSpPr>
          <p:nvPr>
            <p:ph type="body" idx="103" hasCustomPrompt="1"/>
          </p:nvPr>
        </p:nvSpPr>
        <p:spPr>
          <a:xfrm>
            <a:off x="2314303" y="3706150"/>
            <a:ext cx="73152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600" dirty="0">
                <a:solidFill>
                  <a:srgbClr val="6B6B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marL="0" indent="0">
              <a:buNone/>
            </a:pPr>
            <a:r>
              <a:rPr lang="en-US" sz="1600" dirty="0">
                <a:solidFill>
                  <a:srgbClr val="6B6B6B"/>
                </a:solidFill>
                <a:latin typeface="맑은 고딕" pitchFamily="34" charset="0"/>
                <a:ea typeface="맑은 고딕" pitchFamily="34" charset="-122"/>
              </a:rPr>
              <a:t>Subtitle</a:t>
            </a:r>
            <a:endParaRPr lang="en-US" sz="1600" dirty="0"/>
          </a:p>
        </p:txBody>
      </p:sp>
      <p:sp>
        <p:nvSpPr>
          <p:cNvPr id="6" name="Text 1"/>
          <p:cNvSpPr>
            <a:spLocks noGrp="1"/>
          </p:cNvSpPr>
          <p:nvPr>
            <p:ph type="body" idx="104" hasCustomPrompt="1"/>
          </p:nvPr>
        </p:nvSpPr>
        <p:spPr>
          <a:xfrm>
            <a:off x="822960" y="580644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2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marL="0" indent="0">
              <a:buNone/>
            </a:pPr>
            <a:r>
              <a:rPr lang="en-US" sz="1200" dirty="0" err="1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</a:t>
            </a:r>
            <a:r>
              <a:rPr lang="en-US" sz="12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|  0000000 </a:t>
            </a:r>
            <a:r>
              <a:rPr lang="ko-KR" altLang="en-US" sz="12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</a:t>
            </a:r>
            <a:r>
              <a:rPr lang="en-US" altLang="ko-KR" sz="12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00</a:t>
            </a:r>
            <a:r>
              <a:rPr lang="en-US" sz="12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  </a:t>
            </a:r>
            <a:r>
              <a:rPr lang="en-US" sz="1200" dirty="0" err="1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이메일</a:t>
            </a:r>
            <a:r>
              <a:rPr lang="en-US" sz="12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|  000@0000000</a:t>
            </a:r>
            <a:endParaRPr lang="en-US" sz="1200" dirty="0"/>
          </a:p>
        </p:txBody>
      </p:sp>
      <p:sp>
        <p:nvSpPr>
          <p:cNvPr id="7" name="Shape 1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1">
            <a:extLst>
              <a:ext uri="{FF2B5EF4-FFF2-40B4-BE49-F238E27FC236}">
                <a16:creationId xmlns:a16="http://schemas.microsoft.com/office/drawing/2014/main" id="{7AE092AE-D465-EEA3-0712-EB081D53B1E7}"/>
              </a:ext>
            </a:extLst>
          </p:cNvPr>
          <p:cNvSpPr/>
          <p:nvPr userDrawn="1"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직각 삼각형 22">
            <a:extLst>
              <a:ext uri="{FF2B5EF4-FFF2-40B4-BE49-F238E27FC236}">
                <a16:creationId xmlns:a16="http://schemas.microsoft.com/office/drawing/2014/main" id="{7D89A5F9-D265-6749-713A-6A8106A7E562}"/>
              </a:ext>
            </a:extLst>
          </p:cNvPr>
          <p:cNvSpPr/>
          <p:nvPr userDrawn="1"/>
        </p:nvSpPr>
        <p:spPr>
          <a:xfrm rot="16200000">
            <a:off x="11243070" y="5802871"/>
            <a:ext cx="945363" cy="952499"/>
          </a:xfrm>
          <a:prstGeom prst="rt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F79DFEEF-7DA2-D78B-EF5A-6EB3944FD00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13571" y="154387"/>
            <a:ext cx="1551200" cy="649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75510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IR_PROBLEM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11480" y="365760"/>
            <a:ext cx="868680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</a:rPr>
              <a:t>Title</a:t>
            </a:r>
            <a:endParaRPr lang="en-US" sz="3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411480" y="987552"/>
            <a:ext cx="86868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400" dirty="0">
                <a:solidFill>
                  <a:srgbClr val="6B6B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marL="0" indent="0">
              <a:buNone/>
            </a:pPr>
            <a:r>
              <a:rPr lang="ko-KR" altLang="ko-KR" dirty="0" err="1"/>
              <a:t>Describe</a:t>
            </a:r>
            <a:r>
              <a:rPr lang="ko-KR" altLang="ko-KR" dirty="0"/>
              <a:t> </a:t>
            </a:r>
            <a:r>
              <a:rPr lang="ko-KR" altLang="ko-KR" dirty="0" err="1"/>
              <a:t>the</a:t>
            </a:r>
            <a:r>
              <a:rPr lang="ko-KR" altLang="ko-KR" dirty="0"/>
              <a:t> </a:t>
            </a:r>
            <a:r>
              <a:rPr lang="ko-KR" altLang="ko-KR" dirty="0" err="1"/>
              <a:t>title</a:t>
            </a:r>
            <a:r>
              <a:rPr lang="ko-KR" altLang="ko-KR" dirty="0"/>
              <a:t>.</a:t>
            </a:r>
            <a:endParaRPr lang="en-US" sz="1400" dirty="0"/>
          </a:p>
        </p:txBody>
      </p:sp>
      <p:sp>
        <p:nvSpPr>
          <p:cNvPr id="4" name="Shape 0"/>
          <p:cNvSpPr/>
          <p:nvPr/>
        </p:nvSpPr>
        <p:spPr>
          <a:xfrm>
            <a:off x="411480" y="1444752"/>
            <a:ext cx="10881360" cy="13716"/>
          </a:xfrm>
          <a:prstGeom prst="rect">
            <a:avLst/>
          </a:prstGeom>
          <a:solidFill>
            <a:srgbClr val="00206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0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직각 삼각형 21">
            <a:extLst>
              <a:ext uri="{FF2B5EF4-FFF2-40B4-BE49-F238E27FC236}">
                <a16:creationId xmlns:a16="http://schemas.microsoft.com/office/drawing/2014/main" id="{C27A960F-A919-5505-1C00-4737222A6B1B}"/>
              </a:ext>
            </a:extLst>
          </p:cNvPr>
          <p:cNvSpPr/>
          <p:nvPr userDrawn="1"/>
        </p:nvSpPr>
        <p:spPr>
          <a:xfrm rot="16200000">
            <a:off x="11243070" y="5802871"/>
            <a:ext cx="945363" cy="952499"/>
          </a:xfrm>
          <a:prstGeom prst="rt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Shape 1">
            <a:extLst>
              <a:ext uri="{FF2B5EF4-FFF2-40B4-BE49-F238E27FC236}">
                <a16:creationId xmlns:a16="http://schemas.microsoft.com/office/drawing/2014/main" id="{9930A011-ABE0-B24D-DD81-AC96B7F40BA8}"/>
              </a:ext>
            </a:extLst>
          </p:cNvPr>
          <p:cNvSpPr/>
          <p:nvPr userDrawn="1"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직각 삼각형 22">
            <a:extLst>
              <a:ext uri="{FF2B5EF4-FFF2-40B4-BE49-F238E27FC236}">
                <a16:creationId xmlns:a16="http://schemas.microsoft.com/office/drawing/2014/main" id="{A12BB34C-9E91-9C52-1A55-C2270F12DFE4}"/>
              </a:ext>
            </a:extLst>
          </p:cNvPr>
          <p:cNvSpPr/>
          <p:nvPr userDrawn="1"/>
        </p:nvSpPr>
        <p:spPr>
          <a:xfrm rot="16200000">
            <a:off x="11192805" y="5782380"/>
            <a:ext cx="975140" cy="1023256"/>
          </a:xfrm>
          <a:prstGeom prst="rt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E5500B38-1D69-3A1B-74F3-F277CDF1AE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13571" y="154387"/>
            <a:ext cx="1551200" cy="649888"/>
          </a:xfrm>
          <a:prstGeom prst="rect">
            <a:avLst/>
          </a:prstGeom>
        </p:spPr>
      </p:pic>
      <p:sp>
        <p:nvSpPr>
          <p:cNvPr id="30" name="텍스트 개체 틀 29">
            <a:extLst>
              <a:ext uri="{FF2B5EF4-FFF2-40B4-BE49-F238E27FC236}">
                <a16:creationId xmlns:a16="http://schemas.microsoft.com/office/drawing/2014/main" id="{3CE10CA6-3909-E0C1-5140-0F66C2E2E766}"/>
              </a:ext>
            </a:extLst>
          </p:cNvPr>
          <p:cNvSpPr>
            <a:spLocks noGrp="1"/>
          </p:cNvSpPr>
          <p:nvPr>
            <p:ph type="body" sz="quarter" idx="102" hasCustomPrompt="1"/>
          </p:nvPr>
        </p:nvSpPr>
        <p:spPr>
          <a:xfrm>
            <a:off x="525463" y="1778983"/>
            <a:ext cx="10714039" cy="4259758"/>
          </a:xfrm>
          <a:prstGeom prst="rect">
            <a:avLst/>
          </a:prstGeo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altLang="ko-KR" dirty="0"/>
              <a:t>Please enter text </a:t>
            </a:r>
          </a:p>
          <a:p>
            <a:pPr lvl="2"/>
            <a:r>
              <a:rPr lang="en-US" altLang="ko-KR" dirty="0"/>
              <a:t>second</a:t>
            </a:r>
            <a:endParaRPr lang="ko-KR" altLang="en-US" dirty="0"/>
          </a:p>
          <a:p>
            <a:pPr lvl="3"/>
            <a:r>
              <a:rPr lang="en-US" altLang="ko-KR" dirty="0"/>
              <a:t>third</a:t>
            </a:r>
            <a:endParaRPr lang="ko-KR" altLang="en-US" dirty="0"/>
          </a:p>
          <a:p>
            <a:pPr lvl="4"/>
            <a:r>
              <a:rPr lang="en-US" altLang="ko-KR" dirty="0"/>
              <a:t>fourth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58039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>
            <a:extLst>
              <a:ext uri="{FF2B5EF4-FFF2-40B4-BE49-F238E27FC236}">
                <a16:creationId xmlns:a16="http://schemas.microsoft.com/office/drawing/2014/main" id="{2177C468-DE04-5456-4313-8DD2291994FD}"/>
              </a:ext>
            </a:extLst>
          </p:cNvPr>
          <p:cNvSpPr>
            <a:spLocks noGrp="1"/>
          </p:cNvSpPr>
          <p:nvPr>
            <p:ph type="title" idx="102"/>
          </p:nvPr>
        </p:nvSpPr>
        <p:spPr>
          <a:xfrm>
            <a:off x="195943" y="2480854"/>
            <a:ext cx="11551920" cy="1097280"/>
          </a:xfrm>
        </p:spPr>
        <p:txBody>
          <a:bodyPr/>
          <a:lstStyle/>
          <a:p>
            <a:r>
              <a:rPr lang="en-US" altLang="ko-KR" sz="4800" dirty="0">
                <a:latin typeface="프리젠테이션 5 Medium" pitchFamily="2" charset="-127"/>
                <a:ea typeface="프리젠테이션 5 Medium" pitchFamily="2" charset="-127"/>
              </a:rPr>
              <a:t>Read Head,</a:t>
            </a:r>
            <a:r>
              <a:rPr lang="ko-KR" altLang="en-US" sz="4800" dirty="0"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4800" dirty="0">
                <a:latin typeface="프리젠테이션 5 Medium" pitchFamily="2" charset="-127"/>
                <a:ea typeface="프리젠테이션 5 Medium" pitchFamily="2" charset="-127"/>
              </a:rPr>
              <a:t>Control Head</a:t>
            </a:r>
            <a:r>
              <a:rPr lang="ko-KR" altLang="en-US" sz="4800" dirty="0">
                <a:latin typeface="프리젠테이션 5 Medium" pitchFamily="2" charset="-127"/>
                <a:ea typeface="프리젠테이션 5 Medium" pitchFamily="2" charset="-127"/>
              </a:rPr>
              <a:t> 분리 </a:t>
            </a:r>
            <a:r>
              <a:rPr lang="en-US" altLang="ko-KR" sz="4800" dirty="0">
                <a:latin typeface="프리젠테이션 5 Medium" pitchFamily="2" charset="-127"/>
                <a:ea typeface="프리젠테이션 5 Medium" pitchFamily="2" charset="-127"/>
              </a:rPr>
              <a:t>PoC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EAE1255-7519-D80E-B995-55F7E828629E}"/>
              </a:ext>
            </a:extLst>
          </p:cNvPr>
          <p:cNvSpPr>
            <a:spLocks noGrp="1"/>
          </p:cNvSpPr>
          <p:nvPr>
            <p:ph type="body" idx="103"/>
          </p:nvPr>
        </p:nvSpPr>
        <p:spPr>
          <a:xfrm>
            <a:off x="1728652" y="3429000"/>
            <a:ext cx="8486502" cy="457200"/>
          </a:xfrm>
        </p:spPr>
        <p:txBody>
          <a:bodyPr/>
          <a:lstStyle/>
          <a:p>
            <a:r>
              <a:rPr lang="en-US" altLang="ko-KR" sz="2400" dirty="0">
                <a:solidFill>
                  <a:srgbClr val="5FB8C4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Atlas of In-Context Learning </a:t>
            </a:r>
            <a:r>
              <a:rPr lang="ko-KR" altLang="en-US" sz="2400" dirty="0">
                <a:solidFill>
                  <a:srgbClr val="5FB8C4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방법론 응용 </a:t>
            </a:r>
            <a:endParaRPr lang="en-US" altLang="ko-KR" sz="2400" dirty="0">
              <a:solidFill>
                <a:prstClr val="black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EC17B35-4365-F89F-F120-6110CE71454E}"/>
              </a:ext>
            </a:extLst>
          </p:cNvPr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rPr lang="ko-KR" altLang="en-US" sz="1600" dirty="0">
                <a:latin typeface="프리젠테이션 5 Medium" pitchFamily="2" charset="-127"/>
                <a:ea typeface="프리젠테이션 5 Medium" pitchFamily="2" charset="-127"/>
              </a:rPr>
              <a:t>원종빈</a:t>
            </a:r>
          </a:p>
        </p:txBody>
      </p:sp>
    </p:spTree>
    <p:extLst>
      <p:ext uri="{BB962C8B-B14F-4D97-AF65-F5344CB8AC3E}">
        <p14:creationId xmlns:p14="http://schemas.microsoft.com/office/powerpoint/2010/main" val="32707823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24B3A-C572-38DA-98A6-40F6E2F03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ounded Rectangle 8">
            <a:extLst>
              <a:ext uri="{FF2B5EF4-FFF2-40B4-BE49-F238E27FC236}">
                <a16:creationId xmlns:a16="http://schemas.microsoft.com/office/drawing/2014/main" id="{AD632057-1FB1-4A4F-5D50-30ECB860843D}"/>
              </a:ext>
            </a:extLst>
          </p:cNvPr>
          <p:cNvSpPr/>
          <p:nvPr/>
        </p:nvSpPr>
        <p:spPr>
          <a:xfrm>
            <a:off x="1257531" y="4451927"/>
            <a:ext cx="9676940" cy="1308793"/>
          </a:xfrm>
          <a:prstGeom prst="roundRect">
            <a:avLst>
              <a:gd name="adj" fmla="val 10000"/>
            </a:avLst>
          </a:prstGeom>
          <a:solidFill>
            <a:srgbClr val="FBE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Shape 3">
            <a:extLst>
              <a:ext uri="{FF2B5EF4-FFF2-40B4-BE49-F238E27FC236}">
                <a16:creationId xmlns:a16="http://schemas.microsoft.com/office/drawing/2014/main" id="{55C4EC47-E0E7-319D-53CD-900509DA6C2D}"/>
              </a:ext>
            </a:extLst>
          </p:cNvPr>
          <p:cNvSpPr/>
          <p:nvPr/>
        </p:nvSpPr>
        <p:spPr>
          <a:xfrm>
            <a:off x="6232084" y="2853053"/>
            <a:ext cx="4702386" cy="1151894"/>
          </a:xfrm>
          <a:prstGeom prst="roundRect">
            <a:avLst>
              <a:gd name="adj" fmla="val 4587"/>
            </a:avLst>
          </a:prstGeom>
          <a:solidFill>
            <a:srgbClr val="FFFFFF"/>
          </a:solidFill>
          <a:ln w="15240">
            <a:solidFill>
              <a:srgbClr val="DEDFE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 sz="20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24" name="Shape 3">
            <a:extLst>
              <a:ext uri="{FF2B5EF4-FFF2-40B4-BE49-F238E27FC236}">
                <a16:creationId xmlns:a16="http://schemas.microsoft.com/office/drawing/2014/main" id="{428D085C-30EC-A05C-91DF-4F179D815D53}"/>
              </a:ext>
            </a:extLst>
          </p:cNvPr>
          <p:cNvSpPr/>
          <p:nvPr/>
        </p:nvSpPr>
        <p:spPr>
          <a:xfrm>
            <a:off x="1257530" y="2853053"/>
            <a:ext cx="4702386" cy="1151894"/>
          </a:xfrm>
          <a:prstGeom prst="roundRect">
            <a:avLst>
              <a:gd name="adj" fmla="val 4587"/>
            </a:avLst>
          </a:prstGeom>
          <a:solidFill>
            <a:srgbClr val="FFFFFF"/>
          </a:solidFill>
          <a:ln w="15240">
            <a:solidFill>
              <a:srgbClr val="DEDFE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 sz="200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17F4F86-F63A-3D8B-C213-E5FB941C2799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>
            <a:normAutofit fontScale="90000"/>
          </a:bodyPr>
          <a:lstStyle/>
          <a:p>
            <a:r>
              <a:rPr lang="ko-KR" altLang="en-US" sz="3600" dirty="0">
                <a:latin typeface="프리젠테이션 5 Medium" pitchFamily="2" charset="-127"/>
                <a:ea typeface="프리젠테이션 5 Medium" pitchFamily="2" charset="-127"/>
              </a:rPr>
              <a:t>개요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4E59EF0-0E8E-03E9-405C-D4D851555780}"/>
              </a:ext>
            </a:extLst>
          </p:cNvPr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rPr lang="ko-KR" altLang="en-US" dirty="0">
                <a:latin typeface="프리젠테이션 5 Medium" pitchFamily="2" charset="-127"/>
                <a:ea typeface="프리젠테이션 5 Medium" pitchFamily="2" charset="-127"/>
              </a:rPr>
              <a:t>가설 </a:t>
            </a:r>
            <a:r>
              <a:rPr lang="en-US" altLang="ko-KR" dirty="0">
                <a:latin typeface="프리젠테이션 5 Medium" pitchFamily="2" charset="-127"/>
                <a:ea typeface="프리젠테이션 5 Medium" pitchFamily="2" charset="-127"/>
              </a:rPr>
              <a:t>- Read Head</a:t>
            </a:r>
            <a:r>
              <a:rPr lang="ko-KR" altLang="en-US" dirty="0">
                <a:latin typeface="프리젠테이션 5 Medium" pitchFamily="2" charset="-127"/>
                <a:ea typeface="프리젠테이션 5 Medium" pitchFamily="2" charset="-127"/>
              </a:rPr>
              <a:t>와 </a:t>
            </a:r>
            <a:r>
              <a:rPr lang="en-US" altLang="ko-KR" dirty="0">
                <a:latin typeface="프리젠테이션 5 Medium" pitchFamily="2" charset="-127"/>
                <a:ea typeface="프리젠테이션 5 Medium" pitchFamily="2" charset="-127"/>
              </a:rPr>
              <a:t>Control Head</a:t>
            </a:r>
            <a:r>
              <a:rPr lang="ko-KR" altLang="en-US" dirty="0">
                <a:latin typeface="프리젠테이션 5 Medium" pitchFamily="2" charset="-127"/>
                <a:ea typeface="프리젠테이션 5 Medium" pitchFamily="2" charset="-127"/>
              </a:rPr>
              <a:t>는 분리되어 있다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A7E16B-BE12-84F5-0D21-35BF5A10661D}"/>
              </a:ext>
            </a:extLst>
          </p:cNvPr>
          <p:cNvSpPr txBox="1"/>
          <p:nvPr/>
        </p:nvSpPr>
        <p:spPr>
          <a:xfrm>
            <a:off x="3796146" y="1949678"/>
            <a:ext cx="4599404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0" i="0" dirty="0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[</a:t>
            </a:r>
            <a:r>
              <a:rPr sz="1400" b="0" i="0" dirty="0" err="1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정상</a:t>
            </a:r>
            <a:r>
              <a:rPr sz="1400" b="0" i="0" dirty="0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sz="1400" b="0" i="0" dirty="0" err="1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지시</a:t>
            </a:r>
            <a:r>
              <a:rPr sz="1400" b="0" i="0" dirty="0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] + [</a:t>
            </a:r>
            <a:r>
              <a:rPr sz="1400" b="0" i="0" dirty="0" err="1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외부</a:t>
            </a:r>
            <a:r>
              <a:rPr sz="1400" b="0" i="0" dirty="0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sz="1400" b="0" i="0" dirty="0" err="1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데이터</a:t>
            </a:r>
            <a:r>
              <a:rPr sz="1400" b="0" i="0" dirty="0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sz="1400" b="0" i="0" dirty="0">
                <a:solidFill>
                  <a:srgbClr val="C06A1F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sz="1400" b="0" i="0" dirty="0" err="1">
                <a:solidFill>
                  <a:srgbClr val="C06A1F"/>
                </a:solidFill>
                <a:latin typeface="프리젠테이션 5 Medium" pitchFamily="2" charset="-127"/>
                <a:ea typeface="프리젠테이션 5 Medium" pitchFamily="2" charset="-127"/>
              </a:rPr>
              <a:t>공격자</a:t>
            </a:r>
            <a:r>
              <a:rPr sz="1400" b="0" i="0" dirty="0">
                <a:solidFill>
                  <a:srgbClr val="C06A1F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sz="1400" b="0" i="0" dirty="0" err="1">
                <a:solidFill>
                  <a:srgbClr val="C06A1F"/>
                </a:solidFill>
                <a:latin typeface="프리젠테이션 5 Medium" pitchFamily="2" charset="-127"/>
                <a:ea typeface="프리젠테이션 5 Medium" pitchFamily="2" charset="-127"/>
              </a:rPr>
              <a:t>명령</a:t>
            </a:r>
            <a:r>
              <a:rPr sz="1400" b="0" i="0" dirty="0">
                <a:solidFill>
                  <a:srgbClr val="C06A1F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sz="1400" b="0" i="0" dirty="0" err="1">
                <a:solidFill>
                  <a:srgbClr val="C06A1F"/>
                </a:solidFill>
                <a:latin typeface="프리젠테이션 5 Medium" pitchFamily="2" charset="-127"/>
                <a:ea typeface="프리젠테이션 5 Medium" pitchFamily="2" charset="-127"/>
              </a:rPr>
              <a:t>삽입</a:t>
            </a:r>
            <a:r>
              <a:rPr sz="1400" b="0" i="0" dirty="0">
                <a:solidFill>
                  <a:srgbClr val="C06A1F"/>
                </a:solidFill>
                <a:latin typeface="프리젠테이션 5 Medium" pitchFamily="2" charset="-127"/>
                <a:ea typeface="프리젠테이션 5 Medium" pitchFamily="2" charset="-127"/>
              </a:rPr>
              <a:t>)</a:t>
            </a:r>
            <a:r>
              <a:rPr sz="1400" b="0" i="0" dirty="0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] → </a:t>
            </a:r>
            <a:r>
              <a:rPr sz="1400" b="1" i="0" dirty="0">
                <a:solidFill>
                  <a:srgbClr val="16181D"/>
                </a:solidFill>
                <a:latin typeface="프리젠테이션 5 Medium" pitchFamily="2" charset="-127"/>
                <a:ea typeface="프리젠테이션 5 Medium" pitchFamily="2" charset="-127"/>
              </a:rPr>
              <a:t>LLM</a:t>
            </a:r>
            <a:r>
              <a:rPr sz="1400" b="0" i="0" dirty="0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 → </a:t>
            </a:r>
            <a:r>
              <a:rPr sz="1400" b="0" i="0" dirty="0" err="1">
                <a:solidFill>
                  <a:srgbClr val="C1442A"/>
                </a:solidFill>
                <a:latin typeface="프리젠테이션 5 Medium" pitchFamily="2" charset="-127"/>
                <a:ea typeface="프리젠테이션 5 Medium" pitchFamily="2" charset="-127"/>
              </a:rPr>
              <a:t>공격</a:t>
            </a:r>
            <a:r>
              <a:rPr sz="1400" b="0" i="0" dirty="0">
                <a:solidFill>
                  <a:srgbClr val="C1442A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sz="1400" b="0" i="0" dirty="0" err="1">
                <a:solidFill>
                  <a:srgbClr val="C1442A"/>
                </a:solidFill>
                <a:latin typeface="프리젠테이션 5 Medium" pitchFamily="2" charset="-127"/>
                <a:ea typeface="프리젠테이션 5 Medium" pitchFamily="2" charset="-127"/>
              </a:rPr>
              <a:t>실행</a:t>
            </a:r>
            <a:endParaRPr sz="1400" b="0" i="0" dirty="0">
              <a:solidFill>
                <a:srgbClr val="C1442A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667CEED-1777-349D-C36E-C4501904379E}"/>
              </a:ext>
            </a:extLst>
          </p:cNvPr>
          <p:cNvSpPr txBox="1"/>
          <p:nvPr/>
        </p:nvSpPr>
        <p:spPr>
          <a:xfrm>
            <a:off x="1538162" y="3134882"/>
            <a:ext cx="4174375" cy="4821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400" b="1" i="0" dirty="0">
                <a:solidFill>
                  <a:srgbClr val="2F6FCE"/>
                </a:solidFill>
                <a:latin typeface="프리젠테이션 5 Medium" pitchFamily="2" charset="-127"/>
                <a:ea typeface="프리젠테이션 5 Medium" pitchFamily="2" charset="-127"/>
              </a:rPr>
              <a:t>Read Head</a:t>
            </a:r>
          </a:p>
          <a:p>
            <a:pPr>
              <a:spcBef>
                <a:spcPts val="400"/>
              </a:spcBef>
            </a:pPr>
            <a:r>
              <a:rPr sz="1400" b="0" i="0" dirty="0" err="1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외부</a:t>
            </a:r>
            <a:r>
              <a:rPr sz="1400" b="0" i="0" dirty="0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sz="1400" b="0" i="0" dirty="0" err="1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데이터의</a:t>
            </a:r>
            <a:r>
              <a:rPr sz="1400" b="0" i="0" dirty="0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sz="1400" b="0" i="0" dirty="0" err="1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내용을</a:t>
            </a:r>
            <a:r>
              <a:rPr sz="1400" b="0" i="0" dirty="0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sz="1400" b="0" i="0" dirty="0" err="1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읽는</a:t>
            </a:r>
            <a:r>
              <a:rPr sz="1400" b="0" i="0" dirty="0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 데 </a:t>
            </a:r>
            <a:r>
              <a:rPr sz="1400" b="0" i="0" dirty="0" err="1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관여</a:t>
            </a:r>
            <a:r>
              <a:rPr sz="1400" b="0" i="0" dirty="0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 — </a:t>
            </a:r>
            <a:r>
              <a:rPr sz="1400" b="0" i="0" dirty="0" err="1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정상</a:t>
            </a:r>
            <a:r>
              <a:rPr sz="1400" b="0" i="0" dirty="0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sz="1400" b="0" i="0" dirty="0" err="1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기능을</a:t>
            </a:r>
            <a:r>
              <a:rPr sz="1400" b="0" i="0" dirty="0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sz="1400" b="0" i="0" dirty="0" err="1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담당</a:t>
            </a:r>
            <a:endParaRPr sz="1400" b="0" i="0" dirty="0">
              <a:solidFill>
                <a:srgbClr val="565C66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2949205-E297-703D-EFF8-DD578196E492}"/>
              </a:ext>
            </a:extLst>
          </p:cNvPr>
          <p:cNvSpPr txBox="1"/>
          <p:nvPr/>
        </p:nvSpPr>
        <p:spPr>
          <a:xfrm>
            <a:off x="6552126" y="3134882"/>
            <a:ext cx="4196694" cy="4821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400" b="1" i="0" dirty="0">
                <a:solidFill>
                  <a:srgbClr val="2F6FCE"/>
                </a:solidFill>
                <a:latin typeface="프리젠테이션 5 Medium" pitchFamily="2" charset="-127"/>
                <a:ea typeface="프리젠테이션 5 Medium" pitchFamily="2" charset="-127"/>
              </a:rPr>
              <a:t>Control Head</a:t>
            </a:r>
          </a:p>
          <a:p>
            <a:pPr>
              <a:spcBef>
                <a:spcPts val="400"/>
              </a:spcBef>
            </a:pPr>
            <a:r>
              <a:rPr sz="1400" b="0" i="0" dirty="0" err="1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데이터</a:t>
            </a:r>
            <a:r>
              <a:rPr sz="1400" b="0" i="0" dirty="0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 속 “</a:t>
            </a:r>
            <a:r>
              <a:rPr sz="1400" b="0" i="0" dirty="0" err="1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명령”을</a:t>
            </a:r>
            <a:r>
              <a:rPr sz="1400" b="0" i="0" dirty="0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sz="1400" b="0" i="0" dirty="0" err="1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실행에</a:t>
            </a:r>
            <a:r>
              <a:rPr sz="1400" b="0" i="0" dirty="0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sz="1400" b="0" i="0" dirty="0" err="1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옮기는</a:t>
            </a:r>
            <a:r>
              <a:rPr sz="1400" b="0" i="0" dirty="0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 데 </a:t>
            </a:r>
            <a:r>
              <a:rPr sz="1400" b="0" i="0" dirty="0" err="1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관여</a:t>
            </a:r>
            <a:r>
              <a:rPr sz="1400" b="0" i="0" dirty="0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 — </a:t>
            </a:r>
            <a:r>
              <a:rPr sz="1400" b="0" i="0" dirty="0" err="1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공격이</a:t>
            </a:r>
            <a:r>
              <a:rPr sz="1400" b="0" i="0" dirty="0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sz="1400" b="0" i="0" dirty="0" err="1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성공하는</a:t>
            </a:r>
            <a:r>
              <a:rPr sz="1400" b="0" i="0" dirty="0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sz="1400" b="0" i="0" dirty="0" err="1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경로</a:t>
            </a:r>
            <a:endParaRPr sz="1400" b="0" i="0" dirty="0">
              <a:solidFill>
                <a:srgbClr val="565C66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ACF2754-93F8-556E-9224-4271E1E7A9B1}"/>
              </a:ext>
            </a:extLst>
          </p:cNvPr>
          <p:cNvSpPr txBox="1"/>
          <p:nvPr/>
        </p:nvSpPr>
        <p:spPr>
          <a:xfrm>
            <a:off x="1794012" y="4745102"/>
            <a:ext cx="8603672" cy="722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lang="ko-KR" altLang="en-US" sz="1600" b="0" i="0" dirty="0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둘이 분리되어 있다면 </a:t>
            </a:r>
            <a:r>
              <a:rPr lang="en-US" altLang="ko-KR" sz="1600" b="0" i="0" dirty="0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control head</a:t>
            </a:r>
            <a:r>
              <a:rPr lang="ko-KR" altLang="en-US" sz="1600" b="0" i="0" dirty="0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만 무력화해 </a:t>
            </a:r>
            <a:r>
              <a:rPr lang="en-US" altLang="ko-KR" sz="1600" b="0" i="0" dirty="0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read </a:t>
            </a:r>
            <a:r>
              <a:rPr lang="ko-KR" altLang="en-US" sz="1600" b="0" i="0" dirty="0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기능은 보존한 채 공격만 방어 가능</a:t>
            </a:r>
            <a:r>
              <a:rPr lang="en-US" altLang="ko-KR" sz="1600" b="0" i="0" dirty="0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</a:p>
          <a:p>
            <a:pPr>
              <a:lnSpc>
                <a:spcPct val="135000"/>
              </a:lnSpc>
            </a:pPr>
            <a:r>
              <a:rPr lang="ko-KR" altLang="en-US" sz="1600" b="0" i="0" dirty="0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방법은 두 단계</a:t>
            </a:r>
            <a:r>
              <a:rPr lang="en-US" altLang="ko-KR" sz="1600" b="0" i="0" dirty="0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: </a:t>
            </a:r>
            <a:r>
              <a:rPr lang="ko-KR" altLang="en-US" sz="1600" b="1" i="0" dirty="0">
                <a:solidFill>
                  <a:srgbClr val="16181D"/>
                </a:solidFill>
                <a:latin typeface="프리젠테이션 5 Medium" pitchFamily="2" charset="-127"/>
                <a:ea typeface="프리젠테이션 5 Medium" pitchFamily="2" charset="-127"/>
              </a:rPr>
              <a:t>① </a:t>
            </a:r>
            <a:r>
              <a:rPr lang="en-US" altLang="ko-KR" sz="1600" b="1" i="0" dirty="0">
                <a:solidFill>
                  <a:srgbClr val="16181D"/>
                </a:solidFill>
                <a:latin typeface="프리젠테이션 5 Medium" pitchFamily="2" charset="-127"/>
                <a:ea typeface="프리젠테이션 5 Medium" pitchFamily="2" charset="-127"/>
              </a:rPr>
              <a:t>relevance</a:t>
            </a:r>
            <a:r>
              <a:rPr lang="ko-KR" altLang="en-US" sz="1600" b="1" i="0" dirty="0">
                <a:solidFill>
                  <a:srgbClr val="16181D"/>
                </a:solidFill>
                <a:latin typeface="프리젠테이션 5 Medium" pitchFamily="2" charset="-127"/>
                <a:ea typeface="프리젠테이션 5 Medium" pitchFamily="2" charset="-127"/>
              </a:rPr>
              <a:t>로 </a:t>
            </a:r>
            <a:r>
              <a:rPr lang="en-US" altLang="ko-KR" sz="1600" b="1" i="0" dirty="0">
                <a:solidFill>
                  <a:srgbClr val="16181D"/>
                </a:solidFill>
                <a:latin typeface="프리젠테이션 5 Medium" pitchFamily="2" charset="-127"/>
                <a:ea typeface="프리젠테이션 5 Medium" pitchFamily="2" charset="-127"/>
              </a:rPr>
              <a:t>head</a:t>
            </a:r>
            <a:r>
              <a:rPr lang="ko-KR" altLang="en-US" sz="1600" b="1" i="0" dirty="0">
                <a:solidFill>
                  <a:srgbClr val="16181D"/>
                </a:solidFill>
                <a:latin typeface="프리젠테이션 5 Medium" pitchFamily="2" charset="-127"/>
                <a:ea typeface="프리젠테이션 5 Medium" pitchFamily="2" charset="-127"/>
              </a:rPr>
              <a:t>를 찾고 </a:t>
            </a:r>
            <a:r>
              <a:rPr lang="ko-KR" altLang="en-US" sz="1600" b="1" dirty="0">
                <a:solidFill>
                  <a:srgbClr val="16181D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600" b="1" i="0" dirty="0">
                <a:solidFill>
                  <a:srgbClr val="16181D"/>
                </a:solidFill>
                <a:latin typeface="프리젠테이션 5 Medium" pitchFamily="2" charset="-127"/>
                <a:ea typeface="프리젠테이션 5 Medium" pitchFamily="2" charset="-127"/>
              </a:rPr>
              <a:t>② 그 </a:t>
            </a:r>
            <a:r>
              <a:rPr lang="en-US" altLang="ko-KR" sz="1600" b="1" i="0" dirty="0">
                <a:solidFill>
                  <a:srgbClr val="16181D"/>
                </a:solidFill>
                <a:latin typeface="프리젠테이션 5 Medium" pitchFamily="2" charset="-127"/>
                <a:ea typeface="프리젠테이션 5 Medium" pitchFamily="2" charset="-127"/>
              </a:rPr>
              <a:t>head</a:t>
            </a:r>
            <a:r>
              <a:rPr lang="ko-KR" altLang="en-US" sz="1600" b="1" i="0" dirty="0">
                <a:solidFill>
                  <a:srgbClr val="16181D"/>
                </a:solidFill>
                <a:latin typeface="프리젠테이션 5 Medium" pitchFamily="2" charset="-127"/>
                <a:ea typeface="프리젠테이션 5 Medium" pitchFamily="2" charset="-127"/>
              </a:rPr>
              <a:t>의 </a:t>
            </a:r>
            <a:r>
              <a:rPr lang="en-US" altLang="ko-KR" sz="1600" b="1" i="0" dirty="0" err="1">
                <a:solidFill>
                  <a:srgbClr val="16181D"/>
                </a:solidFill>
                <a:latin typeface="프리젠테이션 5 Medium" pitchFamily="2" charset="-127"/>
                <a:ea typeface="프리젠테이션 5 Medium" pitchFamily="2" charset="-127"/>
              </a:rPr>
              <a:t>D_inj</a:t>
            </a:r>
            <a:r>
              <a:rPr lang="ko-KR" altLang="en-US" sz="1600" b="1" i="0" dirty="0">
                <a:solidFill>
                  <a:srgbClr val="16181D"/>
                </a:solidFill>
                <a:latin typeface="프리젠테이션 5 Medium" pitchFamily="2" charset="-127"/>
                <a:ea typeface="프리젠테이션 5 Medium" pitchFamily="2" charset="-127"/>
              </a:rPr>
              <a:t> 방향 </a:t>
            </a:r>
            <a:r>
              <a:rPr lang="en-US" altLang="ko-KR" sz="1600" b="1" i="0" dirty="0">
                <a:solidFill>
                  <a:srgbClr val="16181D"/>
                </a:solidFill>
                <a:latin typeface="프리젠테이션 5 Medium" pitchFamily="2" charset="-127"/>
                <a:ea typeface="프리젠테이션 5 Medium" pitchFamily="2" charset="-127"/>
              </a:rPr>
              <a:t>attention edge</a:t>
            </a:r>
            <a:r>
              <a:rPr lang="ko-KR" altLang="en-US" sz="1600" b="1" i="0" dirty="0">
                <a:solidFill>
                  <a:srgbClr val="16181D"/>
                </a:solidFill>
                <a:latin typeface="프리젠테이션 5 Medium" pitchFamily="2" charset="-127"/>
                <a:ea typeface="프리젠테이션 5 Medium" pitchFamily="2" charset="-127"/>
              </a:rPr>
              <a:t>만 끊는다</a:t>
            </a:r>
            <a:r>
              <a:rPr lang="en-US" altLang="ko-KR" sz="1600" b="1" i="0" dirty="0">
                <a:solidFill>
                  <a:srgbClr val="16181D"/>
                </a:solidFill>
                <a:latin typeface="프리젠테이션 5 Medium" pitchFamily="2" charset="-127"/>
                <a:ea typeface="프리젠테이션 5 Medium" pitchFamily="2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681004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0DBF32-ED40-24A8-EA0A-95F4371C4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8">
            <a:extLst>
              <a:ext uri="{FF2B5EF4-FFF2-40B4-BE49-F238E27FC236}">
                <a16:creationId xmlns:a16="http://schemas.microsoft.com/office/drawing/2014/main" id="{776CC098-E44E-5137-5F79-958FF7BC087D}"/>
              </a:ext>
            </a:extLst>
          </p:cNvPr>
          <p:cNvSpPr/>
          <p:nvPr/>
        </p:nvSpPr>
        <p:spPr>
          <a:xfrm>
            <a:off x="7342632" y="1634836"/>
            <a:ext cx="3380406" cy="3899635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9AD6D1A-F39B-136C-0C1E-1C022A2205AA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>
            <a:normAutofit fontScale="90000"/>
          </a:bodyPr>
          <a:lstStyle/>
          <a:p>
            <a:r>
              <a:rPr lang="ko-KR" altLang="en-US" sz="3600" dirty="0">
                <a:latin typeface="프리젠테이션 5 Medium" pitchFamily="2" charset="-127"/>
                <a:ea typeface="프리젠테이션 5 Medium" pitchFamily="2" charset="-127"/>
              </a:rPr>
              <a:t>방법론 </a:t>
            </a:r>
            <a:r>
              <a:rPr lang="en-US" altLang="ko-KR" sz="3600" dirty="0">
                <a:latin typeface="프리젠테이션 5 Medium" pitchFamily="2" charset="-127"/>
                <a:ea typeface="프리젠테이션 5 Medium" pitchFamily="2" charset="-127"/>
              </a:rPr>
              <a:t>- HEAD </a:t>
            </a:r>
            <a:r>
              <a:rPr lang="ko-KR" altLang="en-US" sz="3600" dirty="0">
                <a:latin typeface="프리젠테이션 5 Medium" pitchFamily="2" charset="-127"/>
                <a:ea typeface="프리젠테이션 5 Medium" pitchFamily="2" charset="-127"/>
              </a:rPr>
              <a:t>탐색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2DA7E09-8EC0-4F53-4195-4E44D4E0AED1}"/>
              </a:ext>
            </a:extLst>
          </p:cNvPr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rPr lang="ko-KR" altLang="en-US" dirty="0">
                <a:latin typeface="프리젠테이션 5 Medium" pitchFamily="2" charset="-127"/>
                <a:ea typeface="프리젠테이션 5 Medium" pitchFamily="2" charset="-127"/>
              </a:rPr>
              <a:t>왜 </a:t>
            </a:r>
            <a:r>
              <a:rPr lang="en-US" altLang="ko-KR" dirty="0">
                <a:latin typeface="프리젠테이션 5 Medium" pitchFamily="2" charset="-127"/>
                <a:ea typeface="프리젠테이션 5 Medium" pitchFamily="2" charset="-127"/>
              </a:rPr>
              <a:t>grad</a:t>
            </a:r>
            <a:r>
              <a:rPr lang="ko-KR" altLang="en-US" dirty="0">
                <a:latin typeface="프리젠테이션 5 Medium" pitchFamily="2" charset="-127"/>
                <a:ea typeface="프리젠테이션 5 Medium" pitchFamily="2" charset="-127"/>
              </a:rPr>
              <a:t>가 아니라 </a:t>
            </a:r>
            <a:r>
              <a:rPr lang="en-US" altLang="ko-KR" dirty="0">
                <a:latin typeface="프리젠테이션 5 Medium" pitchFamily="2" charset="-127"/>
                <a:ea typeface="프리젠테이션 5 Medium" pitchFamily="2" charset="-127"/>
              </a:rPr>
              <a:t>"</a:t>
            </a:r>
            <a:r>
              <a:rPr lang="en-US" altLang="ko-KR" dirty="0" err="1">
                <a:latin typeface="프리젠테이션 5 Medium" pitchFamily="2" charset="-127"/>
                <a:ea typeface="프리젠테이션 5 Medium" pitchFamily="2" charset="-127"/>
              </a:rPr>
              <a:t>AttnLRP</a:t>
            </a:r>
            <a:r>
              <a:rPr lang="en-US" altLang="ko-KR" dirty="0">
                <a:latin typeface="프리젠테이션 5 Medium" pitchFamily="2" charset="-127"/>
                <a:ea typeface="프리젠테이션 5 Medium" pitchFamily="2" charset="-127"/>
              </a:rPr>
              <a:t> grad"</a:t>
            </a:r>
            <a:r>
              <a:rPr lang="ko-KR" altLang="en-US" dirty="0">
                <a:latin typeface="프리젠테이션 5 Medium" pitchFamily="2" charset="-127"/>
                <a:ea typeface="프리젠테이션 5 Medium" pitchFamily="2" charset="-127"/>
              </a:rPr>
              <a:t>여야 하는가</a:t>
            </a:r>
          </a:p>
        </p:txBody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42A55A53-0D7F-BBF5-DFE0-DCB76B257404}"/>
              </a:ext>
            </a:extLst>
          </p:cNvPr>
          <p:cNvSpPr/>
          <p:nvPr/>
        </p:nvSpPr>
        <p:spPr>
          <a:xfrm>
            <a:off x="490467" y="1634835"/>
            <a:ext cx="6126480" cy="3899637"/>
          </a:xfrm>
          <a:prstGeom prst="roundRect">
            <a:avLst>
              <a:gd name="adj" fmla="val 3500"/>
            </a:avLst>
          </a:prstGeom>
          <a:solidFill>
            <a:srgbClr val="F4F4F4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solidFill>
                <a:schemeClr val="lt1"/>
              </a:solidFill>
            </a:endParaRPr>
          </a:p>
        </p:txBody>
      </p:sp>
      <p:sp>
        <p:nvSpPr>
          <p:cNvPr id="13" name="Text 3">
            <a:extLst>
              <a:ext uri="{FF2B5EF4-FFF2-40B4-BE49-F238E27FC236}">
                <a16:creationId xmlns:a16="http://schemas.microsoft.com/office/drawing/2014/main" id="{6730EF46-F1BE-1D6A-9978-469897683D03}"/>
              </a:ext>
            </a:extLst>
          </p:cNvPr>
          <p:cNvSpPr/>
          <p:nvPr/>
        </p:nvSpPr>
        <p:spPr>
          <a:xfrm>
            <a:off x="847954" y="1712323"/>
            <a:ext cx="5411506" cy="37094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onsolas"/>
              </a:rPr>
              <a:t># attn_relevance.py — </a:t>
            </a:r>
            <a:r>
              <a:rPr lang="ko-KR" altLang="en-US" sz="1400" dirty="0">
                <a:solidFill>
                  <a:srgbClr val="1A1A1A"/>
                </a:solidFill>
                <a:latin typeface="Consolas"/>
              </a:rPr>
              <a:t>모델 로드 전에 실행</a:t>
            </a:r>
          </a:p>
          <a:p>
            <a:pPr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onsolas"/>
              </a:rPr>
              <a:t>from </a:t>
            </a:r>
            <a:r>
              <a:rPr lang="en-US" sz="1400" dirty="0" err="1">
                <a:solidFill>
                  <a:srgbClr val="1A1A1A"/>
                </a:solidFill>
                <a:latin typeface="Consolas"/>
              </a:rPr>
              <a:t>lxt.efficient</a:t>
            </a:r>
            <a:r>
              <a:rPr lang="en-US" sz="1400" dirty="0">
                <a:solidFill>
                  <a:srgbClr val="1A1A1A"/>
                </a:solidFill>
                <a:latin typeface="Consolas"/>
              </a:rPr>
              <a:t> import </a:t>
            </a:r>
            <a:r>
              <a:rPr lang="en-US" sz="1400" dirty="0" err="1">
                <a:solidFill>
                  <a:srgbClr val="1A1A1A"/>
                </a:solidFill>
                <a:latin typeface="Consolas"/>
              </a:rPr>
              <a:t>monkey_patch</a:t>
            </a:r>
            <a:endParaRPr lang="en-US" sz="1400" dirty="0">
              <a:solidFill>
                <a:srgbClr val="1A1A1A"/>
              </a:solidFill>
              <a:latin typeface="Consolas"/>
            </a:endParaRPr>
          </a:p>
          <a:p>
            <a:pPr indent="0">
              <a:lnSpc>
                <a:spcPct val="130000"/>
              </a:lnSpc>
              <a:buNone/>
            </a:pPr>
            <a:endParaRPr lang="en-US" sz="1400" dirty="0">
              <a:solidFill>
                <a:srgbClr val="1A1A1A"/>
              </a:solidFill>
              <a:latin typeface="Consolas"/>
            </a:endParaRPr>
          </a:p>
          <a:p>
            <a:pPr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onsolas"/>
              </a:rPr>
              <a:t># </a:t>
            </a:r>
            <a:r>
              <a:rPr lang="en-US" sz="1400" dirty="0" err="1">
                <a:solidFill>
                  <a:srgbClr val="1A1A1A"/>
                </a:solidFill>
                <a:latin typeface="Consolas"/>
              </a:rPr>
              <a:t>modeling_mod</a:t>
            </a:r>
            <a:r>
              <a:rPr lang="en-US" sz="1400" dirty="0">
                <a:solidFill>
                  <a:srgbClr val="1A1A1A"/>
                </a:solidFill>
                <a:latin typeface="Consolas"/>
              </a:rPr>
              <a:t> = transformers.models.qwen2.modeling_qwen2</a:t>
            </a:r>
          </a:p>
          <a:p>
            <a:pPr indent="0">
              <a:lnSpc>
                <a:spcPct val="130000"/>
              </a:lnSpc>
              <a:buNone/>
            </a:pPr>
            <a:r>
              <a:rPr lang="en-US" sz="1400" dirty="0" err="1">
                <a:solidFill>
                  <a:srgbClr val="1A1A1A"/>
                </a:solidFill>
                <a:latin typeface="Consolas"/>
              </a:rPr>
              <a:t>monkey_patch</a:t>
            </a:r>
            <a:r>
              <a:rPr lang="en-US" sz="1400" dirty="0">
                <a:solidFill>
                  <a:srgbClr val="1A1A1A"/>
                </a:solidFill>
                <a:latin typeface="Consolas"/>
              </a:rPr>
              <a:t>(</a:t>
            </a:r>
            <a:r>
              <a:rPr lang="en-US" sz="1400" dirty="0" err="1">
                <a:solidFill>
                  <a:srgbClr val="1A1A1A"/>
                </a:solidFill>
                <a:latin typeface="Consolas"/>
              </a:rPr>
              <a:t>modeling_mod</a:t>
            </a:r>
            <a:r>
              <a:rPr lang="en-US" sz="1400" dirty="0">
                <a:solidFill>
                  <a:srgbClr val="1A1A1A"/>
                </a:solidFill>
                <a:latin typeface="Consolas"/>
              </a:rPr>
              <a:t>, verbose=False)</a:t>
            </a:r>
          </a:p>
          <a:p>
            <a:pPr indent="0">
              <a:lnSpc>
                <a:spcPct val="130000"/>
              </a:lnSpc>
              <a:buNone/>
            </a:pPr>
            <a:endParaRPr lang="en-US" sz="1400" dirty="0">
              <a:solidFill>
                <a:srgbClr val="1A1A1A"/>
              </a:solidFill>
              <a:latin typeface="Consolas"/>
            </a:endParaRPr>
          </a:p>
          <a:p>
            <a:pPr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onsolas"/>
              </a:rPr>
              <a:t># </a:t>
            </a:r>
            <a:r>
              <a:rPr lang="ko-KR" altLang="en-US" sz="1400" dirty="0">
                <a:solidFill>
                  <a:srgbClr val="1A1A1A"/>
                </a:solidFill>
                <a:latin typeface="Consolas"/>
              </a:rPr>
              <a:t>패치는 반드시 </a:t>
            </a:r>
            <a:r>
              <a:rPr lang="en-US" sz="1400" dirty="0" err="1">
                <a:solidFill>
                  <a:srgbClr val="1A1A1A"/>
                </a:solidFill>
                <a:latin typeface="Consolas"/>
              </a:rPr>
              <a:t>from_pretrained</a:t>
            </a:r>
            <a:r>
              <a:rPr lang="ko-KR" altLang="en-US" sz="1400" dirty="0">
                <a:solidFill>
                  <a:srgbClr val="1A1A1A"/>
                </a:solidFill>
                <a:latin typeface="Consolas"/>
              </a:rPr>
              <a:t>보다 먼저</a:t>
            </a:r>
          </a:p>
          <a:p>
            <a:pPr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onsolas"/>
              </a:rPr>
              <a:t>model = </a:t>
            </a:r>
            <a:r>
              <a:rPr lang="en-US" sz="1400" dirty="0" err="1">
                <a:solidFill>
                  <a:srgbClr val="1A1A1A"/>
                </a:solidFill>
                <a:latin typeface="Consolas"/>
              </a:rPr>
              <a:t>model_cls.from_pretrained</a:t>
            </a:r>
            <a:r>
              <a:rPr lang="en-US" sz="1400" dirty="0">
                <a:solidFill>
                  <a:srgbClr val="1A1A1A"/>
                </a:solidFill>
                <a:latin typeface="Consolas"/>
              </a:rPr>
              <a:t>(</a:t>
            </a:r>
          </a:p>
          <a:p>
            <a:pPr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onsolas"/>
              </a:rPr>
              <a:t>    </a:t>
            </a:r>
            <a:r>
              <a:rPr lang="en-US" sz="1400" dirty="0" err="1">
                <a:solidFill>
                  <a:srgbClr val="1A1A1A"/>
                </a:solidFill>
                <a:latin typeface="Consolas"/>
              </a:rPr>
              <a:t>model_path</a:t>
            </a:r>
            <a:r>
              <a:rPr lang="en-US" sz="1400" dirty="0">
                <a:solidFill>
                  <a:srgbClr val="1A1A1A"/>
                </a:solidFill>
                <a:latin typeface="Consolas"/>
              </a:rPr>
              <a:t>,</a:t>
            </a:r>
          </a:p>
          <a:p>
            <a:pPr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onsolas"/>
              </a:rPr>
              <a:t>    </a:t>
            </a:r>
            <a:r>
              <a:rPr lang="en-US" sz="1400" dirty="0" err="1">
                <a:solidFill>
                  <a:srgbClr val="1A1A1A"/>
                </a:solidFill>
                <a:latin typeface="Consolas"/>
              </a:rPr>
              <a:t>attn_implementation</a:t>
            </a:r>
            <a:r>
              <a:rPr lang="en-US" sz="1400" dirty="0">
                <a:solidFill>
                  <a:srgbClr val="1A1A1A"/>
                </a:solidFill>
                <a:latin typeface="Consolas"/>
              </a:rPr>
              <a:t>="eager",</a:t>
            </a:r>
          </a:p>
          <a:p>
            <a:pPr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onsolas"/>
              </a:rPr>
              <a:t>)</a:t>
            </a:r>
          </a:p>
        </p:txBody>
      </p:sp>
      <p:sp>
        <p:nvSpPr>
          <p:cNvPr id="18" name="Text 6">
            <a:extLst>
              <a:ext uri="{FF2B5EF4-FFF2-40B4-BE49-F238E27FC236}">
                <a16:creationId xmlns:a16="http://schemas.microsoft.com/office/drawing/2014/main" id="{B936515B-B9CD-ACD4-8897-DDA5197301F3}"/>
              </a:ext>
            </a:extLst>
          </p:cNvPr>
          <p:cNvSpPr/>
          <p:nvPr/>
        </p:nvSpPr>
        <p:spPr>
          <a:xfrm>
            <a:off x="7653310" y="1861727"/>
            <a:ext cx="2889940" cy="3449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400"/>
              </a:spcAft>
            </a:pPr>
            <a:r>
              <a:rPr lang="ko-KR" altLang="en-US" sz="1400" b="1" dirty="0">
                <a:solidFill>
                  <a:srgbClr val="2F6FCE"/>
                </a:solidFill>
                <a:latin typeface="프리젠테이션 5 Medium" pitchFamily="2" charset="-127"/>
                <a:ea typeface="프리젠테이션 5 Medium" pitchFamily="2" charset="-127"/>
              </a:rPr>
              <a:t>표준 </a:t>
            </a:r>
            <a:r>
              <a:rPr lang="en-US" altLang="ko-KR" sz="1400" b="1" dirty="0">
                <a:solidFill>
                  <a:srgbClr val="2F6FCE"/>
                </a:solidFill>
                <a:latin typeface="프리젠테이션 5 Medium" pitchFamily="2" charset="-127"/>
                <a:ea typeface="프리젠테이션 5 Medium" pitchFamily="2" charset="-127"/>
              </a:rPr>
              <a:t>gradient ≠ relevance</a:t>
            </a:r>
          </a:p>
          <a:p>
            <a:pPr>
              <a:spcAft>
                <a:spcPts val="1400"/>
              </a:spcAft>
            </a:pPr>
            <a:r>
              <a:rPr lang="en-US" altLang="ko-KR" sz="1200" dirty="0" err="1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RMSNorm·gated-MLP·softmax</a:t>
            </a:r>
            <a:r>
              <a:rPr lang="en-US" altLang="ko-KR" sz="1200" dirty="0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같은 비선형 연산을 일반 </a:t>
            </a:r>
            <a:r>
              <a:rPr lang="en-US" altLang="ko-KR" sz="1200" dirty="0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chain rule</a:t>
            </a:r>
            <a:r>
              <a:rPr lang="ko-KR" altLang="en-US" sz="1200" dirty="0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로 미분하면 </a:t>
            </a:r>
            <a:r>
              <a:rPr lang="en-US" altLang="ko-KR" sz="1200" dirty="0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relevance</a:t>
            </a:r>
            <a:r>
              <a:rPr lang="ko-KR" altLang="en-US" sz="1200" dirty="0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가 발산</a:t>
            </a:r>
            <a:r>
              <a:rPr lang="en-US" altLang="ko-KR" sz="1200" dirty="0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·</a:t>
            </a:r>
            <a:r>
              <a:rPr lang="ko-KR" altLang="en-US" sz="1200" dirty="0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소실</a:t>
            </a:r>
            <a:endParaRPr lang="en-US" altLang="ko-KR" sz="1200" dirty="0">
              <a:solidFill>
                <a:srgbClr val="565C66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>
              <a:spcAft>
                <a:spcPts val="1400"/>
              </a:spcAft>
            </a:pPr>
            <a:r>
              <a:rPr lang="en-US" altLang="ko-KR" sz="1200" dirty="0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LRP</a:t>
            </a:r>
            <a:r>
              <a:rPr lang="ko-KR" altLang="en-US" sz="1200" dirty="0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는 이 연산들마다 별도의 보존적 전파 규칙을 쓴다</a:t>
            </a:r>
            <a:r>
              <a:rPr lang="en-US" altLang="ko-KR" sz="1200" dirty="0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.</a:t>
            </a:r>
          </a:p>
          <a:p>
            <a:pPr>
              <a:spcAft>
                <a:spcPts val="400"/>
              </a:spcAft>
            </a:pPr>
            <a:r>
              <a:rPr lang="ko-KR" altLang="ko-KR" sz="1400" b="1" dirty="0" err="1">
                <a:solidFill>
                  <a:srgbClr val="2F6FCE"/>
                </a:solidFill>
                <a:latin typeface="프리젠테이션 5 Medium" pitchFamily="2" charset="-127"/>
                <a:ea typeface="프리젠테이션 5 Medium" pitchFamily="2" charset="-127"/>
              </a:rPr>
              <a:t>monkey_patch</a:t>
            </a:r>
            <a:r>
              <a:rPr lang="ko-KR" altLang="ko-KR" sz="1400" b="1" dirty="0">
                <a:solidFill>
                  <a:srgbClr val="2F6FCE"/>
                </a:solidFill>
                <a:latin typeface="프리젠테이션 5 Medium" pitchFamily="2" charset="-127"/>
                <a:ea typeface="프리젠테이션 5 Medium" pitchFamily="2" charset="-127"/>
              </a:rPr>
              <a:t> = </a:t>
            </a:r>
            <a:r>
              <a:rPr lang="ko-KR" altLang="ko-KR" sz="1400" b="1" dirty="0" err="1">
                <a:solidFill>
                  <a:srgbClr val="2F6FCE"/>
                </a:solidFill>
                <a:latin typeface="프리젠테이션 5 Medium" pitchFamily="2" charset="-127"/>
                <a:ea typeface="프리젠테이션 5 Medium" pitchFamily="2" charset="-127"/>
              </a:rPr>
              <a:t>backward</a:t>
            </a:r>
            <a:r>
              <a:rPr lang="ko-KR" altLang="ko-KR" sz="1400" b="1" dirty="0">
                <a:solidFill>
                  <a:srgbClr val="2F6FCE"/>
                </a:solidFill>
                <a:latin typeface="프리젠테이션 5 Medium" pitchFamily="2" charset="-127"/>
                <a:ea typeface="프리젠테이션 5 Medium" pitchFamily="2" charset="-127"/>
              </a:rPr>
              <a:t> 함수 교체</a:t>
            </a:r>
            <a:endParaRPr lang="en-US" altLang="ko-KR" sz="1400" b="1" dirty="0">
              <a:solidFill>
                <a:srgbClr val="2F6FCE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>
              <a:spcAft>
                <a:spcPts val="1400"/>
              </a:spcAft>
            </a:pPr>
            <a:r>
              <a:rPr lang="ko-KR" altLang="ko-KR" sz="1200" dirty="0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모델을 만들기 전에, 모듈 안 </a:t>
            </a:r>
            <a:r>
              <a:rPr lang="ko-KR" altLang="ko-KR" sz="1200" dirty="0" err="1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서브모듈들의</a:t>
            </a:r>
            <a:r>
              <a:rPr lang="ko-KR" altLang="ko-KR" sz="1200" dirty="0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ko-KR" sz="1200" dirty="0" err="1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backward</a:t>
            </a:r>
            <a:r>
              <a:rPr lang="ko-KR" altLang="ko-KR" sz="1200" dirty="0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 계산 자체를 </a:t>
            </a:r>
            <a:r>
              <a:rPr lang="ko-KR" altLang="ko-KR" sz="1200" dirty="0" err="1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lxt가</a:t>
            </a:r>
            <a:r>
              <a:rPr lang="ko-KR" altLang="ko-KR" sz="1200" dirty="0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 제공하는 </a:t>
            </a:r>
            <a:r>
              <a:rPr lang="ko-KR" altLang="ko-KR" sz="1200" dirty="0" err="1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AttnLRP</a:t>
            </a:r>
            <a:r>
              <a:rPr lang="ko-KR" altLang="ko-KR" sz="1200" dirty="0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 규칙으로 </a:t>
            </a:r>
            <a:r>
              <a:rPr lang="ko-KR" altLang="ko-KR" sz="1200" dirty="0" err="1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바꿔치기</a:t>
            </a:r>
            <a:endParaRPr lang="ko-KR" altLang="en-US" sz="1200" dirty="0">
              <a:solidFill>
                <a:srgbClr val="565C66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4" name="Text 5">
            <a:extLst>
              <a:ext uri="{FF2B5EF4-FFF2-40B4-BE49-F238E27FC236}">
                <a16:creationId xmlns:a16="http://schemas.microsoft.com/office/drawing/2014/main" id="{05ECA3E7-5CA4-DAD3-A9BC-13B7A39CA21A}"/>
              </a:ext>
            </a:extLst>
          </p:cNvPr>
          <p:cNvSpPr/>
          <p:nvPr/>
        </p:nvSpPr>
        <p:spPr>
          <a:xfrm>
            <a:off x="4954045" y="2203168"/>
            <a:ext cx="2968317" cy="308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>
              <a:buNone/>
            </a:pPr>
            <a:endParaRPr lang="ko-KR" altLang="en-US" sz="12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5AAE2C9-4304-D6B7-AE8A-8DE20A87389E}"/>
              </a:ext>
            </a:extLst>
          </p:cNvPr>
          <p:cNvSpPr txBox="1"/>
          <p:nvPr/>
        </p:nvSpPr>
        <p:spPr>
          <a:xfrm>
            <a:off x="556953" y="5828066"/>
            <a:ext cx="10911535" cy="4726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</a:pPr>
            <a:r>
              <a:rPr lang="en-US" altLang="ko-KR" sz="1200" b="0" i="0" dirty="0">
                <a:solidFill>
                  <a:srgbClr val="8B9099"/>
                </a:solidFill>
                <a:latin typeface="프리젠테이션 5 Medium" pitchFamily="2" charset="-127"/>
                <a:ea typeface="프리젠테이션 5 Medium" pitchFamily="2" charset="-127"/>
              </a:rPr>
              <a:t>- Qwen2/Llama </a:t>
            </a:r>
            <a:r>
              <a:rPr lang="ko-KR" altLang="en-US" sz="1200" b="0" i="0" dirty="0">
                <a:solidFill>
                  <a:srgbClr val="8B9099"/>
                </a:solidFill>
                <a:latin typeface="프리젠테이션 5 Medium" pitchFamily="2" charset="-127"/>
                <a:ea typeface="프리젠테이션 5 Medium" pitchFamily="2" charset="-127"/>
              </a:rPr>
              <a:t>계열만 </a:t>
            </a:r>
            <a:r>
              <a:rPr lang="en-US" altLang="ko-KR" sz="1200" b="0" i="0" dirty="0" err="1">
                <a:solidFill>
                  <a:srgbClr val="8B9099"/>
                </a:solidFill>
                <a:latin typeface="프리젠테이션 5 Medium" pitchFamily="2" charset="-127"/>
                <a:ea typeface="프리젠테이션 5 Medium" pitchFamily="2" charset="-127"/>
              </a:rPr>
              <a:t>model_family</a:t>
            </a:r>
            <a:r>
              <a:rPr lang="ko-KR" altLang="en-US" sz="1200" b="0" i="0" dirty="0">
                <a:solidFill>
                  <a:srgbClr val="8B9099"/>
                </a:solidFill>
                <a:latin typeface="프리젠테이션 5 Medium" pitchFamily="2" charset="-127"/>
                <a:ea typeface="프리젠테이션 5 Medium" pitchFamily="2" charset="-127"/>
              </a:rPr>
              <a:t>로 제한하는 이유도 </a:t>
            </a:r>
            <a:r>
              <a:rPr lang="en-US" altLang="ko-KR" sz="1200" b="0" i="0" dirty="0" err="1">
                <a:solidFill>
                  <a:srgbClr val="8B9099"/>
                </a:solidFill>
                <a:latin typeface="프리젠테이션 5 Medium" pitchFamily="2" charset="-127"/>
                <a:ea typeface="프리젠테이션 5 Medium" pitchFamily="2" charset="-127"/>
              </a:rPr>
              <a:t>lxt</a:t>
            </a:r>
            <a:r>
              <a:rPr lang="ko-KR" altLang="en-US" sz="1200" b="0" i="0" dirty="0">
                <a:solidFill>
                  <a:srgbClr val="8B9099"/>
                </a:solidFill>
                <a:latin typeface="프리젠테이션 5 Medium" pitchFamily="2" charset="-127"/>
                <a:ea typeface="프리젠테이션 5 Medium" pitchFamily="2" charset="-127"/>
              </a:rPr>
              <a:t>의 </a:t>
            </a:r>
            <a:r>
              <a:rPr lang="en-US" altLang="ko-KR" sz="1200" b="0" i="0" dirty="0" err="1">
                <a:solidFill>
                  <a:srgbClr val="8B9099"/>
                </a:solidFill>
                <a:latin typeface="프리젠테이션 5 Medium" pitchFamily="2" charset="-127"/>
                <a:ea typeface="프리젠테이션 5 Medium" pitchFamily="2" charset="-127"/>
              </a:rPr>
              <a:t>monkey_patch</a:t>
            </a:r>
            <a:r>
              <a:rPr lang="ko-KR" altLang="en-US" sz="1200" b="0" i="0" dirty="0">
                <a:solidFill>
                  <a:srgbClr val="8B9099"/>
                </a:solidFill>
                <a:latin typeface="프리젠테이션 5 Medium" pitchFamily="2" charset="-127"/>
                <a:ea typeface="프리젠테이션 5 Medium" pitchFamily="2" charset="-127"/>
              </a:rPr>
              <a:t>가 이 두 모듈 구조만 공식 지원하기 때문</a:t>
            </a:r>
            <a:r>
              <a:rPr lang="en-US" altLang="ko-KR" sz="1200" b="0" i="0" dirty="0">
                <a:solidFill>
                  <a:srgbClr val="8B9099"/>
                </a:solidFill>
                <a:latin typeface="프리젠테이션 5 Medium" pitchFamily="2" charset="-127"/>
                <a:ea typeface="프리젠테이션 5 Medium" pitchFamily="2" charset="-127"/>
              </a:rPr>
              <a:t>.</a:t>
            </a:r>
          </a:p>
          <a:p>
            <a:pPr>
              <a:lnSpc>
                <a:spcPct val="135000"/>
              </a:lnSpc>
            </a:pPr>
            <a:r>
              <a:rPr lang="en-US" altLang="ko-KR" sz="1200" b="0" i="0" dirty="0">
                <a:solidFill>
                  <a:srgbClr val="8B9099"/>
                </a:solidFill>
                <a:latin typeface="프리젠테이션 5 Medium" pitchFamily="2" charset="-127"/>
                <a:ea typeface="프리젠테이션 5 Medium" pitchFamily="2" charset="-127"/>
              </a:rPr>
              <a:t>- Atl</a:t>
            </a:r>
            <a:r>
              <a:rPr lang="en-US" altLang="ko-KR" sz="1200" dirty="0">
                <a:solidFill>
                  <a:srgbClr val="8B9099"/>
                </a:solidFill>
                <a:latin typeface="프리젠테이션 5 Medium" pitchFamily="2" charset="-127"/>
                <a:ea typeface="프리젠테이션 5 Medium" pitchFamily="2" charset="-127"/>
              </a:rPr>
              <a:t>as </a:t>
            </a:r>
            <a:r>
              <a:rPr lang="ko-KR" altLang="en-US" sz="1200" dirty="0">
                <a:solidFill>
                  <a:srgbClr val="8B9099"/>
                </a:solidFill>
                <a:latin typeface="프리젠테이션 5 Medium" pitchFamily="2" charset="-127"/>
                <a:ea typeface="프리젠테이션 5 Medium" pitchFamily="2" charset="-127"/>
              </a:rPr>
              <a:t>논문에서는 직접 </a:t>
            </a:r>
            <a:r>
              <a:rPr lang="ko-KR" altLang="en-US" sz="1200" dirty="0" err="1">
                <a:solidFill>
                  <a:srgbClr val="8B9099"/>
                </a:solidFill>
                <a:latin typeface="프리젠테이션 5 Medium" pitchFamily="2" charset="-127"/>
                <a:ea typeface="프리젠테이션 5 Medium" pitchFamily="2" charset="-127"/>
              </a:rPr>
              <a:t>커스터</a:t>
            </a:r>
            <a:r>
              <a:rPr lang="ko-KR" altLang="en-US" sz="1200" dirty="0">
                <a:solidFill>
                  <a:srgbClr val="8B9099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 err="1">
                <a:solidFill>
                  <a:srgbClr val="8B9099"/>
                </a:solidFill>
                <a:latin typeface="프리젠테이션 5 Medium" pitchFamily="2" charset="-127"/>
                <a:ea typeface="프리젠테이션 5 Medium" pitchFamily="2" charset="-127"/>
              </a:rPr>
              <a:t>서브모듈을</a:t>
            </a:r>
            <a:r>
              <a:rPr lang="ko-KR" altLang="en-US" sz="1200" dirty="0">
                <a:solidFill>
                  <a:srgbClr val="8B9099"/>
                </a:solidFill>
                <a:latin typeface="프리젠테이션 5 Medium" pitchFamily="2" charset="-127"/>
                <a:ea typeface="프리젠테이션 5 Medium" pitchFamily="2" charset="-127"/>
              </a:rPr>
              <a:t> 만들어 </a:t>
            </a:r>
            <a:r>
              <a:rPr lang="en-US" altLang="ko-KR" sz="1200" dirty="0" err="1">
                <a:solidFill>
                  <a:srgbClr val="8B9099"/>
                </a:solidFill>
                <a:latin typeface="프리젠테이션 5 Medium" pitchFamily="2" charset="-127"/>
                <a:ea typeface="프리젠테이션 5 Medium" pitchFamily="2" charset="-127"/>
              </a:rPr>
              <a:t>AttnLRP</a:t>
            </a:r>
            <a:r>
              <a:rPr lang="en-US" altLang="ko-KR" sz="1200" dirty="0">
                <a:solidFill>
                  <a:srgbClr val="8B9099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rgbClr val="8B9099"/>
                </a:solidFill>
                <a:latin typeface="프리젠테이션 5 Medium" pitchFamily="2" charset="-127"/>
                <a:ea typeface="프리젠테이션 5 Medium" pitchFamily="2" charset="-127"/>
              </a:rPr>
              <a:t>규칙에 맞는 </a:t>
            </a:r>
            <a:r>
              <a:rPr lang="en-US" altLang="ko-KR" sz="1200" dirty="0">
                <a:solidFill>
                  <a:srgbClr val="8B9099"/>
                </a:solidFill>
                <a:latin typeface="프리젠테이션 5 Medium" pitchFamily="2" charset="-127"/>
                <a:ea typeface="프리젠테이션 5 Medium" pitchFamily="2" charset="-127"/>
              </a:rPr>
              <a:t>backward </a:t>
            </a:r>
            <a:r>
              <a:rPr lang="ko-KR" altLang="en-US" sz="1200" dirty="0">
                <a:solidFill>
                  <a:srgbClr val="8B9099"/>
                </a:solidFill>
                <a:latin typeface="프리젠테이션 5 Medium" pitchFamily="2" charset="-127"/>
                <a:ea typeface="프리젠테이션 5 Medium" pitchFamily="2" charset="-127"/>
              </a:rPr>
              <a:t>함수를 구현</a:t>
            </a:r>
            <a:r>
              <a:rPr lang="en-US" altLang="ko-KR" sz="1200" dirty="0">
                <a:solidFill>
                  <a:srgbClr val="8B9099"/>
                </a:solidFill>
                <a:latin typeface="프리젠테이션 5 Medium" pitchFamily="2" charset="-127"/>
                <a:ea typeface="프리젠테이션 5 Medium" pitchFamily="2" charset="-127"/>
              </a:rPr>
              <a:t>. (</a:t>
            </a:r>
            <a:r>
              <a:rPr lang="en-US" altLang="ko-KR" sz="1200" dirty="0" err="1">
                <a:solidFill>
                  <a:srgbClr val="8B9099"/>
                </a:solidFill>
                <a:latin typeface="프리젠테이션 5 Medium" pitchFamily="2" charset="-127"/>
                <a:ea typeface="프리젠테이션 5 Medium" pitchFamily="2" charset="-127"/>
              </a:rPr>
              <a:t>monkey_patch</a:t>
            </a:r>
            <a:r>
              <a:rPr lang="ko-KR" altLang="en-US" sz="1200" dirty="0">
                <a:solidFill>
                  <a:srgbClr val="8B9099"/>
                </a:solidFill>
                <a:latin typeface="프리젠테이션 5 Medium" pitchFamily="2" charset="-127"/>
                <a:ea typeface="프리젠테이션 5 Medium" pitchFamily="2" charset="-127"/>
              </a:rPr>
              <a:t>는 같은 저자 그룹이 이 문제를 해결하기 위해 나중에 배포한 것</a:t>
            </a:r>
            <a:r>
              <a:rPr lang="en-US" altLang="ko-KR" sz="1200" dirty="0">
                <a:solidFill>
                  <a:srgbClr val="8B9099"/>
                </a:solidFill>
                <a:latin typeface="프리젠테이션 5 Medium" pitchFamily="2" charset="-127"/>
                <a:ea typeface="프리젠테이션 5 Medium" pitchFamily="2" charset="-127"/>
              </a:rPr>
              <a:t>)</a:t>
            </a:r>
            <a:endParaRPr lang="en-US" altLang="ko-KR" sz="1200" b="0" i="0" dirty="0">
              <a:solidFill>
                <a:srgbClr val="8B9099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13634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62DAD-5AA6-B643-1D67-8345DD01E8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BF932A-4DCC-109D-03AB-56FDBB0D3A3F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>
            <a:normAutofit/>
          </a:bodyPr>
          <a:lstStyle/>
          <a:p>
            <a:r>
              <a:rPr lang="ko-KR" altLang="en-US" sz="3200" dirty="0">
                <a:latin typeface="프리젠테이션 5 Medium" pitchFamily="2" charset="-127"/>
                <a:ea typeface="프리젠테이션 5 Medium" pitchFamily="2" charset="-127"/>
              </a:rPr>
              <a:t>결론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69A3832-75B7-2DF7-0F83-3D0FAAD04357}"/>
              </a:ext>
            </a:extLst>
          </p:cNvPr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rPr lang="en-US" altLang="ko-KR" dirty="0">
                <a:latin typeface="프리젠테이션 5 Medium" pitchFamily="2" charset="-127"/>
                <a:ea typeface="프리젠테이션 5 Medium" pitchFamily="2" charset="-127"/>
              </a:rPr>
              <a:t>Read/Control head</a:t>
            </a:r>
            <a:r>
              <a:rPr lang="ko-KR" altLang="en-US" dirty="0">
                <a:latin typeface="프리젠테이션 5 Medium" pitchFamily="2" charset="-127"/>
                <a:ea typeface="프리젠테이션 5 Medium" pitchFamily="2" charset="-127"/>
              </a:rPr>
              <a:t>는 분리되어 있고</a:t>
            </a:r>
            <a:r>
              <a:rPr lang="en-US" altLang="ko-KR" dirty="0">
                <a:latin typeface="프리젠테이션 5 Medium" pitchFamily="2" charset="-127"/>
                <a:ea typeface="프리젠테이션 5 Medium" pitchFamily="2" charset="-127"/>
              </a:rPr>
              <a:t>, Edge Knockout</a:t>
            </a:r>
            <a:r>
              <a:rPr lang="ko-KR" altLang="en-US" dirty="0">
                <a:latin typeface="프리젠테이션 5 Medium" pitchFamily="2" charset="-127"/>
                <a:ea typeface="프리젠테이션 5 Medium" pitchFamily="2" charset="-127"/>
              </a:rPr>
              <a:t>은 효과가 있다</a:t>
            </a:r>
            <a:r>
              <a:rPr lang="en-US" altLang="ko-KR" dirty="0">
                <a:latin typeface="프리젠테이션 5 Medium" pitchFamily="2" charset="-127"/>
                <a:ea typeface="프리젠테이션 5 Medium" pitchFamily="2" charset="-127"/>
              </a:rPr>
              <a:t>.</a:t>
            </a:r>
            <a:endParaRPr lang="ko-KR" altLang="en-US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CAE40D4-A769-AE3B-4937-89C3AAD00BE7}"/>
              </a:ext>
            </a:extLst>
          </p:cNvPr>
          <p:cNvSpPr/>
          <p:nvPr/>
        </p:nvSpPr>
        <p:spPr>
          <a:xfrm>
            <a:off x="914400" y="1932671"/>
            <a:ext cx="1188720" cy="8438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프리젠테이션 5 Medium" pitchFamily="2" charset="-127"/>
                <a:ea typeface="프리젠테이션 5 Medium" pitchFamily="2" charset="-127"/>
                <a:cs typeface="Cambria" pitchFamily="34" charset="-120"/>
              </a:rPr>
              <a:t>01</a:t>
            </a:r>
            <a:endParaRPr kumimoji="0" lang="en-US" sz="40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9" name="Text 11">
            <a:extLst>
              <a:ext uri="{FF2B5EF4-FFF2-40B4-BE49-F238E27FC236}">
                <a16:creationId xmlns:a16="http://schemas.microsoft.com/office/drawing/2014/main" id="{EFAEF30F-787D-4C55-5211-73C093AC271E}"/>
              </a:ext>
            </a:extLst>
          </p:cNvPr>
          <p:cNvSpPr/>
          <p:nvPr/>
        </p:nvSpPr>
        <p:spPr>
          <a:xfrm>
            <a:off x="914400" y="3308612"/>
            <a:ext cx="1188720" cy="8438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프리젠테이션 5 Medium" pitchFamily="2" charset="-127"/>
                <a:ea typeface="프리젠테이션 5 Medium" pitchFamily="2" charset="-127"/>
                <a:cs typeface="Cambria" pitchFamily="34" charset="-120"/>
              </a:rPr>
              <a:t>02</a:t>
            </a:r>
            <a:endParaRPr kumimoji="0" lang="en-US" sz="40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2" name="Text 18">
            <a:extLst>
              <a:ext uri="{FF2B5EF4-FFF2-40B4-BE49-F238E27FC236}">
                <a16:creationId xmlns:a16="http://schemas.microsoft.com/office/drawing/2014/main" id="{6C60B18C-51CF-EE85-F38F-F34D5C10AC8A}"/>
              </a:ext>
            </a:extLst>
          </p:cNvPr>
          <p:cNvSpPr/>
          <p:nvPr/>
        </p:nvSpPr>
        <p:spPr>
          <a:xfrm>
            <a:off x="914400" y="4695137"/>
            <a:ext cx="1188720" cy="8438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프리젠테이션 5 Medium" pitchFamily="2" charset="-127"/>
                <a:ea typeface="프리젠테이션 5 Medium" pitchFamily="2" charset="-127"/>
                <a:cs typeface="Cambria" pitchFamily="34" charset="-120"/>
              </a:rPr>
              <a:t>03</a:t>
            </a:r>
            <a:endParaRPr kumimoji="0" lang="en-US" sz="40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6" name="Text 5">
            <a:extLst>
              <a:ext uri="{FF2B5EF4-FFF2-40B4-BE49-F238E27FC236}">
                <a16:creationId xmlns:a16="http://schemas.microsoft.com/office/drawing/2014/main" id="{F1E7171E-89DB-4EE2-0409-0959C6846578}"/>
              </a:ext>
            </a:extLst>
          </p:cNvPr>
          <p:cNvSpPr/>
          <p:nvPr/>
        </p:nvSpPr>
        <p:spPr>
          <a:xfrm>
            <a:off x="1988820" y="2073351"/>
            <a:ext cx="9692640" cy="5624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Read head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와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control head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는 실제로 분리되어 있고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(</a:t>
            </a:r>
            <a:r>
              <a:rPr kumimoji="0" lang="en-US" altLang="ko-KR" sz="16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jaccard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 0.18~0.38), </a:t>
            </a: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내부 행동과 외부 행동은 비슷한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control head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집합을 공유한다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(</a:t>
            </a:r>
            <a:r>
              <a:rPr kumimoji="0" lang="en-US" altLang="ko-KR" sz="16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jaccard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 0.48~0.60)</a:t>
            </a:r>
          </a:p>
        </p:txBody>
      </p:sp>
      <p:sp>
        <p:nvSpPr>
          <p:cNvPr id="25" name="Text 5">
            <a:extLst>
              <a:ext uri="{FF2B5EF4-FFF2-40B4-BE49-F238E27FC236}">
                <a16:creationId xmlns:a16="http://schemas.microsoft.com/office/drawing/2014/main" id="{4CD0CAEB-8815-A060-A011-75F8370C80C0}"/>
              </a:ext>
            </a:extLst>
          </p:cNvPr>
          <p:cNvSpPr/>
          <p:nvPr/>
        </p:nvSpPr>
        <p:spPr>
          <a:xfrm>
            <a:off x="1988820" y="3449292"/>
            <a:ext cx="9692640" cy="5624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control head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의 </a:t>
            </a:r>
            <a:r>
              <a:rPr kumimoji="0" lang="en-US" altLang="ko-KR" sz="16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D_inj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방향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attention edge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만 끊어도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,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정상 기능은 그대로 둔 채 공격을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k=20~40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안에 효과적으로 억제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프리젠테이션 5 Medium" pitchFamily="2" charset="-127"/>
              <a:ea typeface="프리젠테이션 5 Medium" pitchFamily="2" charset="-127"/>
              <a:cs typeface="Calibri" pitchFamily="34" charset="-120"/>
            </a:endParaRPr>
          </a:p>
        </p:txBody>
      </p:sp>
      <p:sp>
        <p:nvSpPr>
          <p:cNvPr id="26" name="Text 5">
            <a:extLst>
              <a:ext uri="{FF2B5EF4-FFF2-40B4-BE49-F238E27FC236}">
                <a16:creationId xmlns:a16="http://schemas.microsoft.com/office/drawing/2014/main" id="{8C193C15-F4F0-3BF4-7C3B-772A0C80831A}"/>
              </a:ext>
            </a:extLst>
          </p:cNvPr>
          <p:cNvSpPr/>
          <p:nvPr/>
        </p:nvSpPr>
        <p:spPr>
          <a:xfrm>
            <a:off x="1988820" y="4839229"/>
            <a:ext cx="9692640" cy="5624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완전히 다른 실제 벤치마크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(</a:t>
            </a:r>
            <a:r>
              <a:rPr kumimoji="0" lang="en-US" altLang="ko-KR" sz="16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InjecAgent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)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에는 부분적으로만 전이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프리젠테이션 5 Medium" pitchFamily="2" charset="-127"/>
              <a:ea typeface="프리젠테이션 5 Medium" pitchFamily="2" charset="-127"/>
              <a:cs typeface="Calibri" pitchFamily="34" charset="-120"/>
            </a:endParaRPr>
          </a:p>
          <a:p>
            <a:pPr defTabSz="914400">
              <a:lnSpc>
                <a:spcPct val="120000"/>
              </a:lnSpc>
              <a:defRPr/>
            </a:pPr>
            <a:r>
              <a:rPr lang="en-US" altLang="ko-KR" sz="1600" dirty="0">
                <a:latin typeface="프리젠테이션 5 Medium" pitchFamily="2" charset="-127"/>
                <a:ea typeface="프리젠테이션 5 Medium" pitchFamily="2" charset="-127"/>
              </a:rPr>
              <a:t>Qwen2.5-7B : (malicious) </a:t>
            </a:r>
            <a:r>
              <a:rPr lang="en-US" altLang="ko-KR" sz="1600" dirty="0">
                <a:solidFill>
                  <a:srgbClr val="16181D"/>
                </a:solidFill>
                <a:latin typeface="프리젠테이션 5 Medium" pitchFamily="2" charset="-127"/>
                <a:ea typeface="프리젠테이션 5 Medium" pitchFamily="2" charset="-127"/>
              </a:rPr>
              <a:t>0.5237</a:t>
            </a:r>
            <a:r>
              <a:rPr lang="en-US" altLang="ko-KR" sz="1600" dirty="0">
                <a:solidFill>
                  <a:srgbClr val="16181D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 </a:t>
            </a:r>
            <a:r>
              <a:rPr lang="ko-KR" altLang="en-US" sz="1600" dirty="0">
                <a:solidFill>
                  <a:srgbClr val="565C66"/>
                </a:solidFill>
                <a:latin typeface="프리젠테이션 5 Medium" pitchFamily="2" charset="-127"/>
                <a:ea typeface="프리젠테이션 5 Medium" pitchFamily="2" charset="-127"/>
              </a:rPr>
              <a:t>→</a:t>
            </a:r>
            <a:r>
              <a:rPr lang="en-US" altLang="ko-KR" sz="1600" dirty="0">
                <a:solidFill>
                  <a:srgbClr val="16181D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 </a:t>
            </a:r>
            <a:r>
              <a:rPr lang="en-US" altLang="ko-KR" sz="1600" dirty="0">
                <a:solidFill>
                  <a:srgbClr val="16181D"/>
                </a:solidFill>
                <a:latin typeface="프리젠테이션 5 Medium" pitchFamily="2" charset="-127"/>
                <a:ea typeface="프리젠테이션 5 Medium" pitchFamily="2" charset="-127"/>
              </a:rPr>
              <a:t>0.1300</a:t>
            </a:r>
          </a:p>
        </p:txBody>
      </p:sp>
    </p:spTree>
    <p:extLst>
      <p:ext uri="{BB962C8B-B14F-4D97-AF65-F5344CB8AC3E}">
        <p14:creationId xmlns:p14="http://schemas.microsoft.com/office/powerpoint/2010/main" val="37737642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" y="2084831"/>
            <a:ext cx="1005840" cy="50292"/>
          </a:xfrm>
          <a:prstGeom prst="rect">
            <a:avLst/>
          </a:prstGeom>
          <a:solidFill>
            <a:srgbClr val="C0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8686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IPI DEFENSE · FOLLOW-UP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97480"/>
            <a:ext cx="1051560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Read Head, Control Head 분리 PoC</a:t>
            </a:r>
          </a:p>
          <a:p>
            <a:pPr algn="l">
              <a:lnSpc>
                <a:spcPct val="120000"/>
              </a:lnSpc>
            </a:pPr>
            <a:r>
              <a:rPr sz="34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— 교수님 피드백 대응 결과 (2차)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969264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AgentDojo 네이티브 평가 도입  ·  head 탐색 방법론 재설계  ·  proxy 지표 재검증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B9099"/>
                </a:solidFill>
                <a:latin typeface="Consolas"/>
                <a:ea typeface="Consolas"/>
                <a:cs typeface="Consolas"/>
              </a:rPr>
              <a:t>1차 발표 07-28  ·  피드백 07-29  ·  대응 실험 07-29~31  ·  2차 발표 2026-08-19       원종빈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01 · 이전 내용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1차 발표 요약 — 가설 · 개입 · 그때의 결과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72768"/>
            <a:ext cx="10908792" cy="731520"/>
          </a:xfrm>
          <a:prstGeom prst="roundRect">
            <a:avLst>
              <a:gd name="adj" fmla="val 9000"/>
            </a:avLst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764792"/>
            <a:ext cx="103327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65C66"/>
                </a:solidFill>
                <a:latin typeface="Consolas"/>
                <a:ea typeface="Consolas"/>
                <a:cs typeface="Consolas"/>
              </a:rPr>
              <a:t>[정상 지시] + [외부 데이터 </a:t>
            </a:r>
            <a:r>
              <a:rPr sz="1300" b="0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(공격자 명령 삽입)</a:t>
            </a:r>
            <a:r>
              <a:rPr sz="1300" b="0">
                <a:solidFill>
                  <a:srgbClr val="565C66"/>
                </a:solidFill>
                <a:latin typeface="Consolas"/>
                <a:ea typeface="Consolas"/>
                <a:cs typeface="Consolas"/>
              </a:rPr>
              <a:t>] → </a:t>
            </a:r>
            <a:r>
              <a:rPr sz="1300" b="1">
                <a:solidFill>
                  <a:srgbClr val="16181D"/>
                </a:solidFill>
                <a:latin typeface="Consolas"/>
                <a:ea typeface="Consolas"/>
                <a:cs typeface="Consolas"/>
              </a:rPr>
              <a:t>LLM</a:t>
            </a:r>
            <a:r>
              <a:rPr sz="1300" b="0">
                <a:solidFill>
                  <a:srgbClr val="565C66"/>
                </a:solidFill>
                <a:latin typeface="Consolas"/>
                <a:ea typeface="Consolas"/>
                <a:cs typeface="Consolas"/>
              </a:rPr>
              <a:t> → </a:t>
            </a:r>
            <a:r>
              <a:rPr sz="1300" b="0">
                <a:solidFill>
                  <a:srgbClr val="C1442A"/>
                </a:solidFill>
                <a:latin typeface="Consolas"/>
                <a:ea typeface="Consolas"/>
                <a:cs typeface="Consolas"/>
              </a:rPr>
              <a:t>공격 실행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87168"/>
            <a:ext cx="5321808" cy="1207008"/>
          </a:xfrm>
          <a:prstGeom prst="roundRect">
            <a:avLst>
              <a:gd name="adj" fmla="val 9000"/>
            </a:avLst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2670048"/>
            <a:ext cx="4864608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가설 — Read Head ≠ Control Head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외부 데이터의 내용을 읽는 head와, 그 속의 명령을 실행에 옮기는 head가 분리되어 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27064" y="2487168"/>
            <a:ext cx="5321808" cy="1207008"/>
          </a:xfrm>
          <a:prstGeom prst="roundRect">
            <a:avLst>
              <a:gd name="adj" fmla="val 9000"/>
            </a:avLst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55664" y="2670048"/>
            <a:ext cx="4864608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개입 — Edge Knockout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head 전체를 끄지 않고, 그 head의 D_inj 방향 attention edge만 pre-softmax에서 차단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913632"/>
          <a:ext cx="10908790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001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000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51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334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데이터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k=0 공격 성공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knockout 후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utility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합성 30템플릿 (0.5B~7B)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0.91 ~ 1.00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0.0000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유지 / 소폭 상승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합성 unseen 문구 4종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0.92 ~ 1.00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0.0000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유지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InjecAgent 1,054개 (1.5B)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0.1894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0.0406  (4.7배↓)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(S9에서 무효 판정)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InjecAgent 1,054개 (7B)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0.5237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0.1300  (4.0배↓)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(동일)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5870448"/>
            <a:ext cx="1090879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당시 결론: </a:t>
            </a:r>
            <a:r>
              <a:rPr sz="10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"read head와 control head는 분리되어 있다"</a:t>
            </a:r>
            <a:r>
              <a:rPr sz="1050" b="0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   —   jaccard(read,·) 0.18~0.38  vs  jaccard(internal,external) 0.48~0.60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01 · 이전 내용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받은 피드백 — 세 지시가 사실은 같은 문제의 세 얼굴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0908791" cy="16093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8585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83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67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피드백 (2026-07-29)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대응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슬라이드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① </a:t>
                      </a: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AgentDojo로 재현 + utility 측정 제대로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Track A(탐색) / Track B(네이티브 평가) 신규 구축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S6 ~ S8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② </a:t>
                      </a: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키 그룹 2개 vs 데이터셋 모드 4개, read_injected는 왜?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정의 재정리 (문서·코드 주석)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S4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③ </a:t>
                      </a: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attention head 찾는 방법 체계화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자체 진단 5종 + 3소스 비교로 재설계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S5, S7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3520440"/>
            <a:ext cx="10908792" cy="2148840"/>
          </a:xfrm>
          <a:prstGeom prst="roundRect">
            <a:avLst>
              <a:gd name="adj" fmla="val 9000"/>
            </a:avLst>
          </a:prstGeom>
          <a:solidFill>
            <a:srgbClr val="DB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3730752"/>
            <a:ext cx="10360152" cy="1783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①과 ③을 하나로 통합한 이유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1차 발표 P2-d에서 이미 </a:t>
            </a:r>
            <a:r>
              <a:rPr sz="12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합성 head 단독 / InjecAgent head 단독 / 교집합 세 조건이 거의 동일한 성능</a:t>
            </a: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을 냈다 (jaccard 0.36).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→ "합성으로 찾은 head를 실제 벤치마크에 전이"시키는 지금 구조가 합성 데이터의 한계(노골적 문구·단순 문서 구조)를 그대로 상속할 수 있다는 신호.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→ 그렇다면 AgentDojo는 </a:t>
            </a:r>
            <a:r>
              <a:rPr sz="1200" b="0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단순 재현 대상</a:t>
            </a: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이 아니라 </a:t>
            </a:r>
            <a:r>
              <a:rPr sz="12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head 탐색 소스 자체</a:t>
            </a: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로 삼아야 한다. 두 지시는 같은 작업이었다.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90879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아래 S4~S9는 이 로드맵을 ② → ③ → ① 순서로 따라간다.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02 · 피드백 ②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"정상 vs 침입"이 아니라 "침입의 두 실행 경로"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5897879" cy="204279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35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73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770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구분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개수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목록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relevance 계산 단위(조사)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read, internal, external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교집합(선정)에 쓰는 것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internal, external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 dirty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key span(</a:t>
                      </a:r>
                      <a:r>
                        <a:rPr sz="1050" b="0" dirty="0" err="1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창문</a:t>
                      </a:r>
                      <a:r>
                        <a:rPr sz="1050" b="0" dirty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) </a:t>
                      </a:r>
                      <a:r>
                        <a:rPr sz="1050" b="0" dirty="0" err="1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종류</a:t>
                      </a:r>
                      <a:endParaRPr sz="1050" b="0" dirty="0">
                        <a:solidFill>
                          <a:srgbClr val="565C66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data_benign, data_inj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프롬프트 모드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1" dirty="0" err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read_clean</a:t>
                      </a:r>
                      <a:r>
                        <a:rPr sz="1050" b="1" dirty="0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, </a:t>
                      </a:r>
                      <a:r>
                        <a:rPr sz="1050" b="1" dirty="0" err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read_injected</a:t>
                      </a:r>
                      <a:r>
                        <a:rPr sz="1050" b="1" dirty="0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,
internal, external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766560" y="1691640"/>
            <a:ext cx="4782312" cy="1188720"/>
          </a:xfrm>
          <a:prstGeom prst="roundRect">
            <a:avLst>
              <a:gd name="adj" fmla="val 9000"/>
            </a:avLst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004304" y="1856231"/>
            <a:ext cx="4306824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internal / external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11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둘 다 data_inj를 본다.</a:t>
            </a:r>
            <a:r>
              <a:rPr sz="11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차이는 backward 타깃뿐 — 자유 텍스트로 새는 경로 vs tool-call로 새는 경로.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0" y="3017520"/>
            <a:ext cx="4782312" cy="1417320"/>
          </a:xfrm>
          <a:prstGeom prst="roundRect">
            <a:avLst>
              <a:gd name="adj" fmla="val 9000"/>
            </a:avLst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004304" y="3200400"/>
            <a:ext cx="4306824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read_injected는 왜 있나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11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head 탐색에는 </a:t>
            </a:r>
            <a:r>
              <a:rPr sz="110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안 쓴다.</a:t>
            </a:r>
            <a:r>
              <a:rPr sz="11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knockout 후 utility 검증 전용. read_clean은 숨은 명령이 없어 끊을 edge 자체가 없어 이 검증에 못 쓴다.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663440"/>
            <a:ext cx="10908792" cy="1234440"/>
          </a:xfrm>
          <a:prstGeom prst="roundRect">
            <a:avLst>
              <a:gd name="adj" fmla="val 9000"/>
            </a:avLst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4846320"/>
            <a:ext cx="10360152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다만 — 이 2×2 구조는 합성 데이터셋에서만 성립한다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InjecAgent · AgentDojo는 tool-calling 단일 포맷이라 internal/external 구분이 구조상 없다. → S7에서 교집합의 기준을 채널 축에서 소스 축으로 교체하게 되는 근거.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1090879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혼동의 원인: "키 그룹"이라는 말이 조사 개수(3) · 선정에 쓰는 그룹 수(2) · span 종류(2) · 프롬프트 모드 수(4)를 동시에 가리키고 있었다.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02 · 피드백 ③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먼저 자체 진단 — 지금까지의 결론이 유효한가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0908791" cy="23591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4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253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00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진단 항목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결과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판정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랜덤 head 기준선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선정 head(9~14개): k=10 안에 0.9118 → </a:t>
                      </a:r>
                      <a:r>
                        <a:rPr sz="11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0.0000</a:t>
                      </a: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  /   랜덤 동수: k=40까지도 </a:t>
                      </a:r>
                      <a:r>
                        <a:rPr sz="110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0.6448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jaccard 우연 기준선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관측 0.538  vs  우연 기대 0.031  →  </a:t>
                      </a:r>
                      <a:r>
                        <a:rPr sz="1100" b="1">
                          <a:solidFill>
                            <a:srgbClr val="C06A1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17.6배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top-K sweep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K=10(교집합 9개)에서 이미 완전 억제. K=20은 임계점이 아니고 K≥10이면 충분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dual-use head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control_heads_both 14개 중 </a:t>
                      </a:r>
                      <a:r>
                        <a:rPr sz="11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9개가 read top-20과도 겹침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주의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layer 0 지배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14개 중 </a:t>
                      </a:r>
                      <a:r>
                        <a:rPr sz="11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6개가 layer 0</a:t>
                      </a: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(layer 0은 head가 12개뿐 → 절반이 차단됨)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주의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4389120"/>
            <a:ext cx="10908792" cy="1600200"/>
          </a:xfrm>
          <a:prstGeom prst="roundRect">
            <a:avLst>
              <a:gd name="adj" fmla="val 9000"/>
            </a:avLst>
          </a:prstGeom>
          <a:solidFill>
            <a:srgbClr val="DB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4590288"/>
            <a:ext cx="10360152" cy="1234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1차 발표의 주장 하나를 철회합니다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"read head와 control head는 </a:t>
            </a:r>
            <a:r>
              <a:rPr sz="1200" b="0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분리되어 있다</a:t>
            </a: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" → </a:t>
            </a:r>
            <a:r>
              <a:rPr sz="12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"internal-external끼리의 겹침(0.538)이 read와의 겹침(0.29 / 0.33)보다 뚜렷이 크다"</a:t>
            </a: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는 상대적 주장까지만 성립.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동시에 확인된 것: head 선정 자체는 랜덤 대비 뚜렷이 유효하다 → 합성 데이터셋은 discovery(탐색) 전용으로 계속 쓰고, 성능 수치는 AgentDojo 네이티브 채점에 맡기기로 결정.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90879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Qwen2.5-1.5B · 템플릿 30개 전체 · 전부 forward-only (비용 거의 없음)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02 · 피드백 ①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AgentDojo를 어떻게 붙였나 — 탐색과 평가를 분리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6400800" cy="1691640"/>
          </a:xfrm>
          <a:prstGeom prst="roundRect">
            <a:avLst>
              <a:gd name="adj" fmla="val 9000"/>
            </a:avLst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1920240"/>
            <a:ext cx="5998464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16181D"/>
                </a:solidFill>
                <a:latin typeface="Consolas"/>
                <a:ea typeface="Consolas"/>
                <a:cs typeface="Consolas"/>
              </a:rPr>
              <a:t>                ┌─ Track A (탐색)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2F6FCE"/>
                </a:solidFill>
                <a:latin typeface="Consolas"/>
                <a:ea typeface="Consolas"/>
                <a:cs typeface="Consolas"/>
              </a:rPr>
              <a:t>  AgentDojo ────┤   단일 턴으로 잘라 relevance 계산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16181D"/>
                </a:solidFill>
                <a:latin typeface="Consolas"/>
                <a:ea typeface="Consolas"/>
                <a:cs typeface="Consolas"/>
              </a:rPr>
              <a:t>                └─ Track B (평가)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                    멀티턴 agent loop + 네이티브 채점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60920" y="1691640"/>
            <a:ext cx="4187952" cy="1691640"/>
          </a:xfrm>
          <a:prstGeom prst="roundRect">
            <a:avLst>
              <a:gd name="adj" fmla="val 9000"/>
            </a:avLst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598664" y="1874519"/>
            <a:ext cx="3712463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왜 나눴나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11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탐색은 backward가 필요해 단일 턴이어야 하고, 평가는 반대로 실제 멀티턴이어야 의미가 있다 — 두 요구가 양립 불가.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566160"/>
            <a:ext cx="6400800" cy="1417320"/>
          </a:xfrm>
          <a:prstGeom prst="roundRect">
            <a:avLst>
              <a:gd name="adj" fmla="val 9000"/>
            </a:avLst>
          </a:prstGeom>
          <a:solidFill>
            <a:srgbClr val="DB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77824" y="3749039"/>
            <a:ext cx="5925312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네이티브 채점이란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모델 출력 토큰 확률이 아니라, tool을 </a:t>
            </a:r>
            <a:r>
              <a:rPr sz="11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실제로 실행한 뒤 환경 상태(계좌 잔액·전송된 메일)를 검사하는 결정론적 함수.</a:t>
            </a:r>
            <a:r>
              <a:rPr sz="11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교수님이 말씀하신 "제대로 된 성능 측정"에 대한 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3566160"/>
            <a:ext cx="41879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Track A 어댑터에서 걸린 문제 3가지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360920" y="3913632"/>
          <a:ext cx="4187951" cy="12984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298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581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문제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해결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YAML 개행 정규화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&lt;INFORMATION&gt; 태그를 앵커로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인자 오염형 공격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해당 case 제외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토큰 충돌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토큰 id 기준 재필터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40080" y="5760720"/>
            <a:ext cx="1090879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Track A: 4개 suite 949조합 → 필터 통과 </a:t>
            </a:r>
            <a:r>
              <a:rPr sz="10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220쌍</a:t>
            </a:r>
            <a:r>
              <a:rPr sz="1050" b="0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       Track B: KnockoutLocalLLM으로 우리 HF 모델을 agentdojo 파이프라인에 직접 끼워, 롤아웃 내내 D_inj edge를 차단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02 · head 탐색 재설계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3소스 head 비교 — 채널 축에서 소스 축으로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5120640" cy="14447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비교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jaccard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우연 대비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synthetic ↔ InjecAgent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0.308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C06A1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12.2배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synthetic ↔ AgentDojo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0.214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C06A1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8.5배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InjecAgent ↔ AgentDojo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0.290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C06A1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9.5배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Oval 5"/>
          <p:cNvSpPr/>
          <p:nvPr/>
        </p:nvSpPr>
        <p:spPr>
          <a:xfrm>
            <a:off x="1828800" y="3310128"/>
            <a:ext cx="1783080" cy="1783080"/>
          </a:xfrm>
          <a:prstGeom prst="ellipse">
            <a:avLst/>
          </a:prstGeom>
          <a:solidFill>
            <a:srgbClr val="2F6FCE">
              <a:alpha val="22000"/>
            </a:srgbClr>
          </a:solidFill>
          <a:ln w="15875">
            <a:solidFill>
              <a:srgbClr val="2F6F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2862072" y="3310128"/>
            <a:ext cx="1783080" cy="1783080"/>
          </a:xfrm>
          <a:prstGeom prst="ellipse">
            <a:avLst/>
          </a:prstGeom>
          <a:solidFill>
            <a:srgbClr val="C06A1F">
              <a:alpha val="22000"/>
            </a:srgbClr>
          </a:solidFill>
          <a:ln w="15875">
            <a:solidFill>
              <a:srgbClr val="C06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2345436" y="4224528"/>
            <a:ext cx="1783080" cy="1783080"/>
          </a:xfrm>
          <a:prstGeom prst="ellipse">
            <a:avLst/>
          </a:prstGeom>
          <a:solidFill>
            <a:srgbClr val="C1442A">
              <a:alpha val="22000"/>
            </a:srgbClr>
          </a:solidFill>
          <a:ln w="15875">
            <a:solidFill>
              <a:srgbClr val="C14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" y="4041648"/>
            <a:ext cx="111556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synthetic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18304" y="404164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InjecAgent 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31136" y="608076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AgentDojo 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07208" y="4343400"/>
            <a:ext cx="868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2651760"/>
            <a:ext cx="5513832" cy="1417320"/>
          </a:xfrm>
          <a:prstGeom prst="roundRect">
            <a:avLst>
              <a:gd name="adj" fmla="val 9000"/>
            </a:avLst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72784" y="2834640"/>
            <a:ext cx="5038344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새 질문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교집합의 기준을 채널(internal/external)에서 </a:t>
            </a:r>
            <a:r>
              <a:rPr sz="115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소스</a:t>
            </a:r>
            <a:r>
              <a:rPr sz="11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로 바꿨다 — </a:t>
            </a:r>
            <a:r>
              <a:rPr sz="11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"어느 소스로 찾은 head가 다른 소스에도 전이되는가."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4206240"/>
            <a:ext cx="5513832" cy="1691640"/>
          </a:xfrm>
          <a:prstGeom prst="roundRect">
            <a:avLst>
              <a:gd name="adj" fmla="val 9000"/>
            </a:avLst>
          </a:prstGeom>
          <a:solidFill>
            <a:srgbClr val="DB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72784" y="4407408"/>
            <a:ext cx="5038344" cy="1325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3소스 교집합 5개가 전부 layer 0</a:t>
            </a:r>
          </a:p>
          <a:p>
            <a:pPr algn="l">
              <a:lnSpc>
                <a:spcPct val="125000"/>
              </a:lnSpc>
              <a:spcBef>
                <a:spcPts val="500"/>
              </a:spcBef>
            </a:pPr>
            <a:r>
              <a:rPr sz="1100" b="0">
                <a:solidFill>
                  <a:srgbClr val="565C66"/>
                </a:solidFill>
                <a:latin typeface="Consolas"/>
                <a:ea typeface="Consolas"/>
                <a:cs typeface="Consolas"/>
              </a:rPr>
              <a:t>(0,1)  (0,3)  (0,6)  (0,7)  (0,10)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S5의 </a:t>
            </a:r>
            <a:r>
              <a:rPr sz="115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layer 0 지배</a:t>
            </a:r>
            <a:r>
              <a:rPr sz="11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우려가 소스를 3개로 늘려도 그대로 유지된다.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1090879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집합 크기 synthetic 14 / InjecAgent 20 / AgentDojo 20  ·  3소스 합집합 36  ·  세 소스가 무관한 head를 찾은 건 아니지만(우연 대비 8~12배) 같지도 않다.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02 · Track B 평가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첫 멀티턴 신호 — 그리고 표본을 늘리려던 두 손잡이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5897879" cy="11155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050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23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10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Qwen2.5-7B (4bit) · 48쌍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utility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공격 성공률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k=0  (방어 없음)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0.188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0.021  (1/48)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k=14  (knockout)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0.188  (변화 없음)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0.000  (0/48)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766560" y="1691640"/>
            <a:ext cx="4782312" cy="1115568"/>
          </a:xfrm>
          <a:prstGeom prst="roundRect">
            <a:avLst>
              <a:gd name="adj" fmla="val 9000"/>
            </a:avLst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004304" y="1856231"/>
            <a:ext cx="4306824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첫 실제 신호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11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유일하게 성공한 공격(slack/user_task_10)이 knockout으로 실패로 바뀌고, utility는 전혀 안 깎임.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27248"/>
            <a:ext cx="532180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손잡이 A — 공격 문구가 약해서인가?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3474720"/>
          <a:ext cx="5321807" cy="1005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550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38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30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공격 기법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요구하는 것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성공률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important_instructions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모델이 스스로 추론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0.021 (1/48)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tool_knowledge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정답 tool·인자를 명시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0.022 (1/46)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4892040"/>
            <a:ext cx="5321808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→ </a:t>
            </a:r>
            <a:r>
              <a:rPr sz="110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아니다.</a:t>
            </a:r>
            <a:r>
              <a:rPr sz="11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가장 노골적인 문구로 바꿔도 전체 성공률은 그대로.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7064" y="3127248"/>
            <a:ext cx="532180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손잡이 B — 모델이 작아서인가?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27064" y="3474720"/>
          <a:ext cx="5321807" cy="1051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021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9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9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endParaRPr/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7B(4bit)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14B(4bit)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k=0 utility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0.188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0.267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k=0 공격 성공률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0.021 (1/48)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0.022 (1/45)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227064" y="4892040"/>
            <a:ext cx="5321808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→ </a:t>
            </a:r>
            <a:r>
              <a:rPr sz="110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절반만 맞다.</a:t>
            </a:r>
            <a:r>
              <a:rPr sz="11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utility는 오르지만(travel 0.00→0.11) 공격 성공률은 불변.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577840"/>
            <a:ext cx="1090879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남은 문제: </a:t>
            </a:r>
            <a:r>
              <a:rPr sz="1050" b="0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48쌍 중 성공 공격이 1건이라 통계적으로는 아직 의미 없음. 16GB GPU의 실용 한계(14B-4bit)까지 이미 써버린 상태.      4 suite = banking / slack / travel / workspace, suite당 12쌍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02 · 핵심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같은 모델 · 같은 head, 세 가지 측정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08791" cy="1554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84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251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834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917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평가 방식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무엇을 재는가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k=0 (방어 없음)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knockout 후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합성 30개  (proxy)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다음 토큰 확률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1.0000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0.0000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InjecAgent 1,054개  (proxy)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다음 토큰 확률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0.3347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0.0463  (7.2배↓)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C06A1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AgentDojo 45~48쌍  (네이티브)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C06A1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실제 실행 후 환경 상태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0.021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0.000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58444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baseline(k=0) 공격 성공률 — 같은 축으로 나란히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69080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합성 (proxy)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0" y="4041648"/>
            <a:ext cx="6583680" cy="292608"/>
          </a:xfrm>
          <a:prstGeom prst="rect">
            <a:avLst/>
          </a:prstGeom>
          <a:solidFill>
            <a:srgbClr val="EC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383280" y="4041648"/>
            <a:ext cx="6583680" cy="292608"/>
          </a:xfrm>
          <a:prstGeom prst="rect">
            <a:avLst/>
          </a:prstGeom>
          <a:solidFill>
            <a:srgbClr val="C14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131552" y="406908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100.0%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636008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InjecAgent (proxy)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4608576"/>
            <a:ext cx="6583680" cy="292608"/>
          </a:xfrm>
          <a:prstGeom prst="rect">
            <a:avLst/>
          </a:prstGeom>
          <a:solidFill>
            <a:srgbClr val="EC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383280" y="4608576"/>
            <a:ext cx="2203557" cy="292608"/>
          </a:xfrm>
          <a:prstGeom prst="rect">
            <a:avLst/>
          </a:prstGeom>
          <a:solidFill>
            <a:srgbClr val="C0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131552" y="4636008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33.5%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202936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AgentDojo (네이티브)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5175504"/>
            <a:ext cx="6583680" cy="292608"/>
          </a:xfrm>
          <a:prstGeom prst="rect">
            <a:avLst/>
          </a:prstGeom>
          <a:solidFill>
            <a:srgbClr val="EC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383280" y="5175504"/>
            <a:ext cx="138257" cy="292608"/>
          </a:xfrm>
          <a:prstGeom prst="rect">
            <a:avLst/>
          </a:prstGeom>
          <a:solidFill>
            <a:srgbClr val="2F6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131552" y="5202936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2.1%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742432"/>
            <a:ext cx="10908792" cy="749808"/>
          </a:xfrm>
          <a:prstGeom prst="roundRect">
            <a:avLst>
              <a:gd name="adj" fmla="val 9000"/>
            </a:avLst>
          </a:prstGeom>
          <a:solidFill>
            <a:srgbClr val="DB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4400" y="5925312"/>
            <a:ext cx="1036015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proxy 지표가 실제 공격 성공률을 크게 부풀리고 있었다.</a:t>
            </a: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  차이를 만드는 건 방어 효과가 아니라 </a:t>
            </a:r>
            <a:r>
              <a:rPr sz="12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측정 방법</a:t>
            </a: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이다 — "성능 측정 방법도 제대로 된 걸로" 지적이 정확했다는 실험적 증거.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528816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Qwen2.5-14B(bnb-4bit) · 동일한 13개 head · 합성 utility(read)는 0.9360 → 0.9515로 유지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03 · 이후 진행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현재 한계 — 다음 단계의 근거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0908791" cy="31638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00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086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501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#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한계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상태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통계적 유의성 부족</a:t>
                      </a: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— 48쌍 중 성공 공격 1건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표본 확대 필요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layer 0 지배</a:t>
                      </a: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— "명령 인식 회로" vs "초기 정보 대역폭 차단" 미구분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판별 실험 미설계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read / control 완전 분리 아님 (14개 중 9개 dual-use)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서술 수정 완료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합성 데이터셋 content-availability 교란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discovery 전용으로 봉합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InjecAgent utility 지표는 </a:t>
                      </a:r>
                      <a:r>
                        <a:rPr sz="110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인용 불가</a:t>
                      </a: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— ASR 감소의 산술적 뒷면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폐기 결정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오라클 스팬 — 배포 시엔 어느 토큰이 주입문인지 모름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미착수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인프라 — 메모리 누수는 우회만, travel suite OOM 잔존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표본 확대 시 재발 예상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5349240"/>
            <a:ext cx="10908792" cy="914400"/>
          </a:xfrm>
          <a:prstGeom prst="roundRect">
            <a:avLst>
              <a:gd name="adj" fmla="val 9000"/>
            </a:avLst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5532120"/>
            <a:ext cx="10360152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5번이 </a:t>
            </a:r>
            <a:r>
              <a:rPr sz="12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AgentDojo로 가야 했던 핵심 이유</a:t>
            </a: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입니다 — 피드백 ①의 후반부("utility 측정 제대로")에 대한 저희 쪽 답이기도 합니다.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03 · 이후 진행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다음 단계 — 우선순위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7086600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순위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표본 확대</a:t>
                      </a: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(수백 쌍) — travel 배분 축소, 신호 나오는 banking/slack에 재배분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최종 head 집합 결정</a:t>
                      </a: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— 3소스 교집합 5개(전부 layer 0) vs 각 소스 단독 vs 합집합 36개를 Track B로 비교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top-K sweep + random baseline을 3소스 전부에 동일 적용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layer 0 지배 원인 규명</a:t>
                      </a: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— 명령 인식인가 정보 대역폭인가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AgentDojo baseline 공격 성공률이 왜 2%인지 규명 (모델 크기와 무관함은 확인됨)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결과를 methodology.md에 "Head Selection Methodology" 절로 통합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955279" y="1691640"/>
            <a:ext cx="3593592" cy="3337560"/>
          </a:xfrm>
          <a:prstGeom prst="roundRect">
            <a:avLst>
              <a:gd name="adj" fmla="val 9000"/>
            </a:avLst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193024" y="1892807"/>
            <a:ext cx="3118104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중장기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1100" b="0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1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path patching으로 개별 head 인과성 검증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1100" b="0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1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MMLU 등으로 collateral damage 측정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1100" b="0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1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Llama 계열 교차 검증 (코드는 이미 지원)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1100" b="0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1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오라클 스팬 제거 → 실전 배포 형태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1100" b="0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1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합성 데이터셋 P8 (교란 제거)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230368"/>
            <a:ext cx="10908792" cy="1024128"/>
          </a:xfrm>
          <a:prstGeom prst="roundRect">
            <a:avLst>
              <a:gd name="adj" fmla="val 9000"/>
            </a:avLst>
          </a:prstGeom>
          <a:solidFill>
            <a:srgbClr val="DB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5431536"/>
            <a:ext cx="10360152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2번이 풀리면 4번의 답도 같이 나온다</a:t>
            </a: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3소스 교집합 5개(전부 layer 0)만으로 효과가 나오는지가 갈림길입니다. 효과가 있으면 "layer 0 대역폭" 대안 가설이 오히려 강해지고, 없으면 배제됩니다.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03 · 마무리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결론과 논의 요청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3453414" cy="1691640"/>
          </a:xfrm>
          <a:prstGeom prst="roundRect">
            <a:avLst>
              <a:gd name="adj" fmla="val 9000"/>
            </a:avLst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77824" y="1874519"/>
            <a:ext cx="2977926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한 것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100" b="0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1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피드백 3개 전부 대응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100" b="0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1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정의 정리 · 자체 진단 5종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100" b="0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1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AgentDojo Track A·B 신규 구축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7814" y="1691640"/>
            <a:ext cx="3453414" cy="1691640"/>
          </a:xfrm>
          <a:prstGeom prst="roundRect">
            <a:avLst>
              <a:gd name="adj" fmla="val 9000"/>
            </a:avLst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05558" y="1874519"/>
            <a:ext cx="2977926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얻은 것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100" b="0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1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첫 멀티턴 네이티브 신호 (1/48 → 0/48)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100" b="0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1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3소스 head 비교 (교집합 5개)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100" b="0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1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proxy 지표가 부풀려졌다는 정량적 증거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5548" y="1691640"/>
            <a:ext cx="3453414" cy="1691640"/>
          </a:xfrm>
          <a:prstGeom prst="roundRect">
            <a:avLst>
              <a:gd name="adj" fmla="val 9000"/>
            </a:avLst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333292" y="1874519"/>
            <a:ext cx="2977926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남은 것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100" b="0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1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표본 부족 (성공 공격 1건)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100" b="0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1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layer 0 지배 미규명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100" b="0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1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최종 head 집합 미결정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57600"/>
            <a:ext cx="10908792" cy="2212848"/>
          </a:xfrm>
          <a:prstGeom prst="roundRect">
            <a:avLst>
              <a:gd name="adj" fmla="val 9000"/>
            </a:avLst>
          </a:prstGeom>
          <a:solidFill>
            <a:srgbClr val="DB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3858768"/>
            <a:ext cx="10360152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여쭙고 싶은 것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11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① AgentDojo baseline 공격 성공률 2%를 어떻게 볼 것인가</a:t>
            </a:r>
            <a:r>
              <a:rPr sz="11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 —  (a) 표본 확대에 예산을 더 쓴다   (b) "이 스케일에선 원래 잘 안 통한다"를 결과로 보고 다른 환경을 찾는다  →  </a:t>
            </a:r>
            <a:r>
              <a:rPr sz="115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저희 권장은 (a)+(b) 병행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1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② layer 0 지배를 가장 값싸게 판별할 실험은 무엇일까요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1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③ "완전 분리"를 포기할 때 이 연구의 기여를 무엇으로 서술할까</a:t>
            </a:r>
            <a:r>
              <a:rPr sz="11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 —  현재 후보: 분리가 아니라 </a:t>
            </a:r>
            <a:r>
              <a:rPr sz="115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"편중 + 최소 개입"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053328"/>
            <a:ext cx="1090879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이번 사이클의 실질적 성과는 방어 효과를 키운 게 아니라, </a:t>
            </a:r>
            <a:r>
              <a:rPr sz="10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믿을 수 있는 자(尺)를 갖게 된 것</a:t>
            </a:r>
            <a:r>
              <a:rPr sz="1050" b="0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3137</Words>
  <Application>Microsoft Office PowerPoint</Application>
  <PresentationFormat>와이드스크린</PresentationFormat>
  <Paragraphs>361</Paragraphs>
  <Slides>16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3" baseType="lpstr">
      <vt:lpstr>Arial</vt:lpstr>
      <vt:lpstr>Calibri</vt:lpstr>
      <vt:lpstr>Consolas</vt:lpstr>
      <vt:lpstr>맑은 고딕</vt:lpstr>
      <vt:lpstr>맑은 고딕</vt:lpstr>
      <vt:lpstr>프리젠테이션 5 Medium</vt:lpstr>
      <vt:lpstr>Office Theme</vt:lpstr>
      <vt:lpstr>Read Head, Control Head 분리 PoC</vt:lpstr>
      <vt:lpstr>개요</vt:lpstr>
      <vt:lpstr>방법론 - HEAD 탐색</vt:lpstr>
      <vt:lpstr>결론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원종빈</cp:lastModifiedBy>
  <cp:revision>2</cp:revision>
  <dcterms:created xsi:type="dcterms:W3CDTF">2013-01-27T09:14:16Z</dcterms:created>
  <dcterms:modified xsi:type="dcterms:W3CDTF">2026-08-19T01:45:11Z</dcterms:modified>
  <cp:category/>
</cp:coreProperties>
</file>