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2084831"/>
            <a:ext cx="1005840" cy="50292"/>
          </a:xfrm>
          <a:prstGeom prst="rect">
            <a:avLst/>
          </a:prstGeom>
          <a:solidFill>
            <a:srgbClr val="C06A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9601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IPI DEFENSE · HEAD DISCOVERY &amp;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10698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Read Head, Control Head 분리 PoC</a:t>
            </a:r>
          </a:p>
          <a:p>
            <a:pPr algn="l">
              <a:lnSpc>
                <a:spcPct val="120000"/>
              </a:lnSpc>
            </a:pPr>
            <a:r>
              <a:rPr sz="25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— Llama-3.1-70B / Qwen3-8B 헤드 탐색·평가 실험 (5차)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34340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70B 자체 헤드 탐색 + 자체/전이 헤드 평가  ·  Qwen3-8B 레이어0 쏠림 진단 + 평가  ·  4개 suite 전체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4360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8B9099"/>
                </a:solidFill>
                <a:latin typeface="Consolas"/>
                <a:ea typeface="Consolas"/>
                <a:cs typeface="Consolas"/>
              </a:rPr>
              <a:t>실험 2026-09-08~09-12  ·  5차 발표 2026-09-XX       원종빈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01 · 서론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이번 사이클에 진행한 실험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691640"/>
          <a:ext cx="10908792" cy="345643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457200"/>
                <a:gridCol w="3931920"/>
                <a:gridCol w="6519672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#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1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목적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Llama-3.1-70B 헤드 탐색 (Track A)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70B 스케일에서 AttnLRP로 자체 control head를 찾을 수 있는가 (기존엔 backward OOM으로 불가 판정)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Llama-3.1-70B 평가 (Track B)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그 헤드를 knockout하면 slack IPI 공격이 억제되는가 — 자체 헤드 vs 8B 전이 헤드 비교, heldout 표본 확대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Qwen3-8B 헤드 탐색 (Track A) + 레이어 0 쏠림 진단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lxt가 경고한 "Qwen3는 attribution이 첫 토큰에 쏠린다"는 현상이 실재하는지, 실재해도 헤드 탐색이 유효한지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1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1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Qwen3-8B 평가 (Track B)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Qwen3-8B에서 찾은 헤드로도 knockout이 8B급 모델과 같은 패턴을 보이는가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" y="5074920"/>
            <a:ext cx="10908792" cy="109728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5239512"/>
            <a:ext cx="10360152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공통 조건</a:t>
            </a:r>
            <a:r>
              <a:rPr sz="12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AgentDojo slack suite(+확장 평가로 banking/travel/workspace) · agentdojo_default tool-call 파서 · 공격 2종(important_instructions, tool_knowledge) · greedy decoding.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Llama-3.1-70B 헤드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방법 — 수동 device_map으로 backward OOM 우회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08792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기존 결론("70B AttnLRP backward는 하드웨어 한계로 불가")은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--device_map auto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경로 한정이었다 — 타이트한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--max_memory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면 CPU/disk 분산 에러, 느슨하면 레이어가 한 GPU에 몰려 backward OOM.</a:t>
            </a:r>
          </a:p>
          <a:p>
            <a:pPr algn="l">
              <a:lnSpc>
                <a:spcPct val="135000"/>
              </a:lnSpc>
              <a:spcBef>
                <a:spcPts val="1800"/>
              </a:spcBef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해결: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--device_map_plan "0:32,1:30,2:18"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embed/norm/lm_head를 첫 GPU에 몰아두고(backward가 양 끝에서 시작·수렴), 레이어는 순서대로 분배.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CUDA_VISIBLE_DEVICES=1,0,2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→ A6000(48G,root) / Blackwell(32G) / 4090(24G).</a:t>
            </a:r>
          </a:p>
          <a:p>
            <a:pPr algn="l">
              <a:lnSpc>
                <a:spcPct val="135000"/>
              </a:lnSpc>
              <a:spcBef>
                <a:spcPts val="1800"/>
              </a:spcBef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두 번 탐색: </a:t>
            </a:r>
            <a:r>
              <a:rPr sz="13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head_n=200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(09-08, 8B 탐색과 동일 조건) / </a:t>
            </a: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head_n=80</a:t>
            </a:r>
            <a:r>
              <a:rPr sz="13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(09-12, heldout 평가 표본 확대 목적).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02 · Llama-3.1-70B 헤드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결과 — suite별 내역 · 헤드 · 재현성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80층×64헤드(5,120개) 중 20개 선정. --max_seq_len 1000 필터 후 949쌍 중 137쌍만 통과 (workspace는 두 탐색 모두 전량 필터 탈락)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6492237" cy="2286000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050215"/>
                <a:gridCol w="1432111"/>
                <a:gridCol w="1336637"/>
                <a:gridCol w="1336637"/>
                <a:gridCol w="1336637"/>
              </a:tblGrid>
              <a:tr h="310896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head_n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탐색 pair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user_task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shortfall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11/11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20/20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5/11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7/20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1/1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9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60920" y="2011680"/>
            <a:ext cx="402336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n_examples_used</a:t>
            </a:r>
          </a:p>
          <a:p>
            <a:pPr algn="l">
              <a:lnSpc>
                <a:spcPct val="125000"/>
              </a:lnSpc>
              <a:spcBef>
                <a:spcPts val="4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head_n=200: 130/149 (0 oom, 0 nan)</a:t>
            </a:r>
          </a:p>
          <a:p>
            <a:pPr algn="l">
              <a:lnSpc>
                <a:spcPct val="125000"/>
              </a:lnSpc>
              <a:spcBef>
                <a:spcPts val="2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head_n=80: 54/54 (0 oom, 0 nan)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</a:pP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선정 헤드 20개 (head_n=80)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</a:pP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layer 26–44/80 (≈33–55%), jaccard 0.82 vs head_n=200(18/20 일치)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434840"/>
            <a:ext cx="10908792" cy="16916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599432"/>
            <a:ext cx="10360152" cy="1417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6181D"/>
                </a:solidFill>
                <a:latin typeface="Consolas"/>
                <a:ea typeface="Consolas"/>
                <a:cs typeface="Consolas"/>
              </a:rPr>
              <a:t>(35,35)(38,52)(34,6)(32,22)(35,34)(30,51)(31,47)(29,58)(31,45)(33,30)(35,18)(31,7)(26,53)(29,62)(32,16)(28,41)(44,35)(28,1)(33,14)(34,43)</a:t>
            </a:r>
          </a:p>
          <a:p>
            <a:pPr algn="l">
              <a:lnSpc>
                <a:spcPct val="130000"/>
              </a:lnSpc>
              <a:spcBef>
                <a:spcPts val="1000"/>
              </a:spcBef>
            </a:pPr>
            <a:r>
              <a:rPr sz="11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8B와 비교: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Llama-8B는 layer 11–22/32(≈38–47%) — </a:t>
            </a: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같은 상대 깊이 대역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(스케일 8배에도 유지).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Llama-3.1-70B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방법 — 자체 vs 전이 헤드, heldout 표본 확대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0908792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비교축 ① 헤드 출처 — </a:t>
            </a:r>
            <a:r>
              <a:rPr sz="13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70B 자체 헤드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vs </a:t>
            </a:r>
            <a:r>
              <a:rPr sz="13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8B 헤드 전이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(70B Track A가 없던 시점엔 8B 헤드를 전이해 씀 → 이후 정면 대조)</a:t>
            </a:r>
          </a:p>
          <a:p>
            <a:pPr algn="l">
              <a:lnSpc>
                <a:spcPct val="130000"/>
              </a:lnSpc>
              <a:spcBef>
                <a:spcPts val="14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• 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비교축 ② 표본 —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--eval_split all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(105쌍, 누수 있음) vs </a:t>
            </a:r>
            <a:r>
              <a:rPr sz="1100" b="0">
                <a:solidFill>
                  <a:srgbClr val="565C66"/>
                </a:solidFill>
                <a:latin typeface="Consolas"/>
                <a:ea typeface="Consolas"/>
                <a:cs typeface="Consolas"/>
              </a:rPr>
              <a:t>--eval_split heldout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(탐색에 안 쓰인 case만, 누수 없음)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749039"/>
          <a:ext cx="10908791" cy="1097280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668403"/>
                <a:gridCol w="4620194"/>
                <a:gridCol w="2310097"/>
                <a:gridCol w="2310097"/>
              </a:tblGrid>
              <a:tr h="329184"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head_n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헤드 탐색에 쓴 slack user_task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heldout 후보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평가한 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 / 20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 (전부)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 / 20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03 · Llama-3.1-70B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결과 — 자체 vs 전이 헤드 · suite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819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자체 vs 전이 헤드 (slack all105, 09-08/09)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920240"/>
          <a:ext cx="10908790" cy="1536192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2369081"/>
                <a:gridCol w="1487562"/>
                <a:gridCol w="1046803"/>
                <a:gridCol w="1046803"/>
                <a:gridCol w="1046803"/>
                <a:gridCol w="1046803"/>
                <a:gridCol w="1156993"/>
                <a:gridCol w="1707942"/>
              </a:tblGrid>
              <a:tr h="29260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헤드 출처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sec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sec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억제/bf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5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순억제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8B 전이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0.190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4/2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important_instructions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70B 자체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0.190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0.276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13/3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−10 (34%↓)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8B 전이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3/2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70B 자체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0.204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0.398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0.223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18/0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5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−18 (44%↓)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0080" y="3703320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heldout 확대 + suite 확장 (70B 자체 헤드, head_n=80, 2026-09-12)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4023360"/>
          <a:ext cx="10908787" cy="195681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313095"/>
                <a:gridCol w="1717124"/>
                <a:gridCol w="858562"/>
                <a:gridCol w="959569"/>
                <a:gridCol w="959569"/>
                <a:gridCol w="959569"/>
                <a:gridCol w="959569"/>
                <a:gridCol w="1717124"/>
                <a:gridCol w="1464606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sec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sec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억제/bf/pr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순억제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0.150 (↓)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0.250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0.117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9/1/6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+8 (53%↓)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0.167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0.183 (↑)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0.350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0.217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8/0/13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+8 (38%↓)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59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0.508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0.627 (↑)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0.085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0.068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3/2/2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+1 (약함)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0/60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A6000 48G에서도 100% OOM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0/60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A6000 48G에서도 100% OOM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—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04 · Qwen3-8B 헤드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레이어 0(첫 토큰) 쏠림 진단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08792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lxt README 경고: "Qwen3는 attribution이 첫 토큰(position 0)으로 쏠린다." 우리 head 탐색은 relevance를 D</a:t>
            </a:r>
            <a:r>
              <a:rPr sz="9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inj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span에 </a:t>
            </a:r>
            <a:r>
              <a:rPr sz="13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group-sum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하므로, 질량이 position 0에 흡수되면 head 점수가 계통적으로 눌릴 위험 — 배선 전에 직접 진단.</a:t>
            </a:r>
          </a:p>
          <a:p>
            <a:pPr algn="l">
              <a:lnSpc>
                <a:spcPct val="135000"/>
              </a:lnSpc>
              <a:spcBef>
                <a:spcPts val="1200"/>
              </a:spcBef>
            </a:pPr>
            <a:r>
              <a:rPr sz="130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판단 기준: </a:t>
            </a:r>
            <a:r>
              <a:rPr sz="13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position 0 비중이 0이 아닌 것 자체는 문제가 아니다(causal LM의 흔한 attention sink). 같은 프롬프트로 </a:t>
            </a:r>
            <a:r>
              <a:rPr sz="13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qwen2 대조군과 나란히 돌려 상대적으로 얼마나 더 쏠리는지가 기준.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3337560"/>
          <a:ext cx="7589517" cy="1097280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463039"/>
                <a:gridCol w="2468880"/>
                <a:gridCol w="1828799"/>
                <a:gridCol w="1828799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family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position 0 비중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data_inj 비중(22tok)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 (대조군)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Qwen2.5-7B-Instruct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0.49%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37.71%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qwen3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Qwen3-8B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16.71%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32.78%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919472"/>
            <a:ext cx="1036015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쏠림은 qwen2 대비 ~34배로 실재</a:t>
            </a:r>
            <a:r>
              <a:rPr sz="12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.</a:t>
            </a:r>
          </a:p>
          <a:p>
            <a:pPr algn="l">
              <a:lnSpc>
                <a:spcPct val="130000"/>
              </a:lnSpc>
              <a:spcBef>
                <a:spcPts val="700"/>
              </a:spcBef>
            </a:pPr>
            <a:r>
              <a:rPr sz="12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그러나 data_inj span 비중은 qwen2와 비슷하게 유지되고 여전히 position 0 단독보다 2배 이상 크다 — group-sum 방식이라 position 0은 애초에 그 합산에 안 들어감. → </a:t>
            </a:r>
            <a:r>
              <a:rPr sz="12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진단 통과.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04 · Qwen3-8B 헤드 탐색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결과 — suite별 내역(oom) · 헤드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36층×32헤드(1,152개) 중 20개 선정. --max_seq_len 1200 필터로 174/949쌍 통과 (4 suite 전부 생존). head_n=200, quota=50/suite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5120639" cy="1956816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776548"/>
                <a:gridCol w="1358537"/>
                <a:gridCol w="1985554"/>
              </a:tblGrid>
              <a:tr h="310896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ok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oom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 (전량)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22 (전량)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합계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103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10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40 (28%)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89320" y="2011680"/>
            <a:ext cx="539496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oom이 전부 travel/workspace에 집중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(추정: 긴 프롬프트) — banking/slack은 거의 안전.</a:t>
            </a:r>
          </a:p>
          <a:p>
            <a:pPr algn="l">
              <a:lnSpc>
                <a:spcPct val="125000"/>
              </a:lnSpc>
              <a:spcBef>
                <a:spcPts val="1000"/>
              </a:spcBef>
            </a:pPr>
            <a:r>
              <a:rPr sz="11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layer 범위: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18–29 / 36 (≈50–80% 깊이)</a:t>
            </a:r>
          </a:p>
          <a:p>
            <a:pPr algn="l">
              <a:lnSpc>
                <a:spcPct val="130000"/>
              </a:lnSpc>
              <a:spcBef>
                <a:spcPts val="600"/>
              </a:spcBef>
            </a:pPr>
            <a:r>
              <a:rPr sz="110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layer 0 헤드 2개(10%)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S7 쏠림과 무관 단정 불가(caveat), 다만 layer 0 지배는 이 방법론 전반의 반복 현상.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40480"/>
            <a:ext cx="10908792" cy="14173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14400" y="4005072"/>
            <a:ext cx="1036015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0">
                <a:solidFill>
                  <a:srgbClr val="16181D"/>
                </a:solidFill>
                <a:latin typeface="Consolas"/>
                <a:ea typeface="Consolas"/>
                <a:cs typeface="Consolas"/>
              </a:rPr>
              <a:t>(25,10)(0,3)(20,29)(22,11)(21,18)(19,21)(24,31)(0,0)(29,0)(22,0)(23,26)(18,30)(21,19)(18,14)(21,11)(26,26)(18,15)(20,5)(21,27)(28,22)</a:t>
            </a:r>
          </a:p>
          <a:p>
            <a:pPr algn="l">
              <a:lnSpc>
                <a:spcPct val="130000"/>
              </a:lnSpc>
              <a:spcBef>
                <a:spcPts val="800"/>
              </a:spcBef>
            </a:pPr>
            <a:r>
              <a:rPr sz="11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Llama-8B/70B와 비교: 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상대 깊이 38–47%/33–55% — Qwen3-8B가 뚜렷이 더 깊은 대역.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05 · Qwen3-8B 평가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방법 &amp; 결과 — slack + suite 확장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81912"/>
            <a:ext cx="109087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8B9099"/>
                </a:solidFill>
                <a:latin typeface="Malgun Gothic"/>
                <a:ea typeface="Malgun Gothic"/>
                <a:cs typeface="Malgun Gothic"/>
              </a:rPr>
              <a:t>헤드 탐색에 쓰인 slack user_task 6/20 → heldout 35쌍 전부 평가. knockout 20개 헤드, k=0→k=20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2011680"/>
          <a:ext cx="10908786" cy="2340864"/>
        </p:xfrm>
        <a:graphic>
          <a:graphicData uri="http://schemas.openxmlformats.org/drawingml/2006/table">
            <a:tbl>
              <a:tblPr bandRow="0">
                <a:tableStyleId>{5C22544A-7EE6-4342-B048-85BDC9FD1C3A}</a:tableStyleId>
              </a:tblPr>
              <a:tblGrid>
                <a:gridCol w="1332748"/>
                <a:gridCol w="1579553"/>
                <a:gridCol w="888498"/>
                <a:gridCol w="937859"/>
                <a:gridCol w="1135304"/>
                <a:gridCol w="937859"/>
                <a:gridCol w="937859"/>
                <a:gridCol w="1628914"/>
                <a:gridCol w="1530192"/>
              </a:tblGrid>
              <a:tr h="329184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suite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공격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util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k0 sec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kN sec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억제/bf/pr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800" b="1">
                          <a:solidFill>
                            <a:srgbClr val="8B9099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순억제</a:t>
                      </a:r>
                    </a:p>
                  </a:txBody>
                  <a:tcPr marL="82296" marR="82296" marT="41148" marB="41148" anchor="ctr">
                    <a:solidFill>
                      <a:srgbClr val="E9EAED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0.314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0.429 (↑)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0.229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8/0/0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+8 전량억제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slack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tool_knowledge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35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0.400 무손상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0.171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0.057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5/1/1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+4 (66%↓)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banking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42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0.690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0.667 (↓)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0.095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4/0/0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2F6FCE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+4 전량억제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workspace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important_instr.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53/60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0.189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0.189 무변화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16181D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대조군(baseline 0)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</a:t>
                      </a:r>
                    </a:p>
                  </a:txBody>
                  <a:tcPr marL="82296" marR="82296" marT="41148" marB="41148" anchor="ctr">
                    <a:solidFill>
                      <a:srgbClr val="F7F7F9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travel (all)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important_instr.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52/60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0.096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0.096 (P14)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0.000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0.019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0">
                          <a:solidFill>
                            <a:srgbClr val="565C66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0/1/0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lnSpc>
                          <a:spcPct val="115000"/>
                        </a:lnSpc>
                      </a:pPr>
                      <a:r>
                        <a:rPr sz="800" b="1">
                          <a:solidFill>
                            <a:srgbClr val="C1442A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−1 (잡음)</a:t>
                      </a:r>
                    </a:p>
                  </a:txBody>
                  <a:tcPr marL="82296" marR="82296" marT="41148" marB="4114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4919472"/>
            <a:ext cx="10360152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banking도 slack처럼 전량 억제·backfire 0</a:t>
            </a:r>
            <a:r>
              <a:rPr sz="110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Qwen3-8B는 70B와 달리 banking에서도 깨끗하게 작동. workspace는 baseline 공격이 아예 없어 순수 대조군(utility 무변화). travel은 4090 100% OOM → Blackwell로 재시도, k0_util 0.096으로 극히 낮음(P14 파서 문제 재확인).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087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06A1F"/>
                </a:solidFill>
                <a:latin typeface="Consolas"/>
                <a:ea typeface="Consolas"/>
                <a:cs typeface="Consolas"/>
              </a:rPr>
              <a:t>06 · 마무리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77240"/>
            <a:ext cx="10908792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결과 요약 &amp; 다음 단계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908792" cy="3063240"/>
          </a:xfrm>
          <a:prstGeom prst="roundRect">
            <a:avLst>
              <a:gd name="adj" fmla="val 9000"/>
            </a:avLst>
          </a:prstGeom>
          <a:solidFill>
            <a:srgbClr val="DBE9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14400" y="1856232"/>
            <a:ext cx="10360152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확인된 것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Llama-70B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수동 device_map으로 자체 헤드 탐색 가능. 자체 헤드가 8B 전이 헤드보다 뚜렷이 강하게 작동(전이 헤드는 순억제 효과 없음). heldout 표본 4배 확대(15→60)에도 순억제 유지 — important_instructions에서 utility 첫 손상 발견(원인 특정).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C1442A"/>
                </a:solidFill>
                <a:latin typeface="Malgun Gothic"/>
                <a:ea typeface="Malgun Gothic"/>
                <a:cs typeface="Malgun Gothic"/>
              </a:rPr>
              <a:t>70B는 slack·banking만 평가 가능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travel·workspace는 A6000(48GB)로도 100% OOM. banking은 knockout 신호가 약함(순억제 +1)지만 utility는 오히려 개선.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Qwen3-8B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: 첫 토큰 쏠림 실재(qwen2 대비 34배)하나 D_inj 신호를 지우지 않음 — 8B급과 동일한 knockout 패턴 재현.</a:t>
            </a:r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2F6FCE"/>
                </a:solidFill>
                <a:latin typeface="Malgun Gothic"/>
                <a:ea typeface="Malgun Gothic"/>
                <a:cs typeface="Malgun Gothic"/>
              </a:rPr>
              <a:t>Qwen3-8B는 4개 suite 전부 평가 가능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— banking도 slack처럼 전량 억제, workspace는 순수 대조군, travel은 알려진 파서 문제(P14)로 낮은 utility 재확인.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074920"/>
            <a:ext cx="10908792" cy="1234440"/>
          </a:xfrm>
          <a:prstGeom prst="roundRect">
            <a:avLst>
              <a:gd name="adj" fmla="val 9000"/>
            </a:avLst>
          </a:prstGeom>
          <a:solidFill>
            <a:srgbClr val="F2F2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5239512"/>
            <a:ext cx="10360152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다음 단계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Qwen2.5-32B 자체 헤드 nf4dq 재탐색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(todo.md §4-1).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70B k-sweep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(topk 20→40→60), utility 손상 원인 정밀 확인.</a:t>
            </a:r>
          </a:p>
          <a:p>
            <a:pPr algn="l">
              <a:lnSpc>
                <a:spcPct val="115000"/>
              </a:lnSpc>
              <a:spcBef>
                <a:spcPts val="400"/>
              </a:spcBef>
            </a:pPr>
            <a:r>
              <a:rPr sz="1050" b="1">
                <a:solidFill>
                  <a:srgbClr val="C06A1F"/>
                </a:solidFill>
                <a:latin typeface="Malgun Gothic"/>
                <a:ea typeface="Malgun Gothic"/>
                <a:cs typeface="Malgun Gothic"/>
              </a:rPr>
              <a:t>·  </a:t>
            </a:r>
            <a:r>
              <a:rPr sz="1050" b="1">
                <a:solidFill>
                  <a:srgbClr val="16181D"/>
                </a:solidFill>
                <a:latin typeface="Malgun Gothic"/>
                <a:ea typeface="Malgun Gothic"/>
                <a:cs typeface="Malgun Gothic"/>
              </a:rPr>
              <a:t>70B travel/workspace OOM 근본 해결</a:t>
            </a:r>
            <a:r>
              <a:rPr sz="1050" b="0">
                <a:solidFill>
                  <a:srgbClr val="565C66"/>
                </a:solidFill>
                <a:latin typeface="Malgun Gothic"/>
                <a:ea typeface="Malgun Gothic"/>
                <a:cs typeface="Malgun Gothic"/>
              </a:rPr>
              <a:t> (2-GPU 분산 등) — 지금은 평가 자체가 안 됨.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