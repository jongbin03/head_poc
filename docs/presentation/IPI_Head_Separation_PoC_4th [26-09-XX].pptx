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2084831"/>
            <a:ext cx="1005840" cy="50292"/>
          </a:xfrm>
          <a:prstGeom prst="rect">
            <a:avLst/>
          </a:prstGeom>
          <a:solidFill>
            <a:srgbClr val="C06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28600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C06A1F"/>
                </a:solidFill>
                <a:latin typeface="Consolas"/>
                <a:ea typeface="Consolas"/>
                <a:cs typeface="Consolas"/>
              </a:rPr>
              <a:t>IPI DEFENSE · PARSER &amp; QUANTIZATION AUDIT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97480"/>
            <a:ext cx="1069848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Read Head, Control Head 분리 PoC</a:t>
            </a:r>
          </a:p>
          <a:p>
            <a:pPr algn="l">
              <a:lnSpc>
                <a:spcPct val="120000"/>
              </a:lnSpc>
            </a:pPr>
            <a:r>
              <a:rPr sz="26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— 파서 정합성 검증 + 양자화 아티팩트 규명 (4차)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343400"/>
            <a:ext cx="104241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파서 A/B  ·  표본 확대 (n=148)  ·  양자화 규명 (fp4 → nf4 / bf16)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10424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B9099"/>
                </a:solidFill>
                <a:latin typeface="Consolas"/>
                <a:ea typeface="Consolas"/>
                <a:cs typeface="Consolas"/>
              </a:rPr>
              <a:t>3차 발표 08-26  ·  피드백 대응 실험 08-31~09-06  ·  4차 발표 2026-09-XX       원종빈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06A1F"/>
                </a:solidFill>
                <a:latin typeface="Consolas"/>
                <a:ea typeface="Consolas"/>
                <a:cs typeface="Consolas"/>
              </a:rPr>
              <a:t>01 · 서론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3차 발표까지의 결론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10908792" cy="841248"/>
          </a:xfrm>
          <a:prstGeom prst="roundRect">
            <a:avLst>
              <a:gd name="adj" fmla="val 9000"/>
            </a:avLst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77824" y="1865376"/>
            <a:ext cx="10332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knockout = 찾은 head들의 </a:t>
            </a:r>
            <a:r>
              <a:rPr sz="125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주입 명령 방향(D</a:t>
            </a:r>
            <a:r>
              <a:rPr sz="9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inj</a:t>
            </a:r>
            <a:r>
              <a:rPr sz="12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) attention edge만 차단.  </a:t>
            </a:r>
            <a:r>
              <a:rPr sz="125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세 축 모두에서 "공격 억제 + 정상 기능 보존"이 재현됨.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697480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확장 축:  </a:t>
            </a:r>
            <a:r>
              <a:rPr sz="1150" b="1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① 스케일</a:t>
            </a:r>
            <a:r>
              <a:rPr sz="11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Qwen2.5 7B→32B    </a:t>
            </a:r>
            <a:r>
              <a:rPr sz="1150" b="1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② 패밀리</a:t>
            </a:r>
            <a:r>
              <a:rPr sz="11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Qwen2→Llama-3.1    </a:t>
            </a:r>
            <a:r>
              <a:rPr sz="1150" b="1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③ 공격 강도</a:t>
            </a:r>
            <a:r>
              <a:rPr sz="11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문구 강화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3154680"/>
          <a:ext cx="10908791" cy="1956816"/>
        </p:xfrm>
        <a:graphic>
          <a:graphicData uri="http://schemas.openxmlformats.org/drawingml/2006/table">
            <a:tbl>
              <a:tblPr bandRow="0">
                <a:tableStyleId>{5C22544A-7EE6-4342-B048-85BDC9FD1C3A}</a:tableStyleId>
              </a:tblPr>
              <a:tblGrid>
                <a:gridCol w="2103120"/>
                <a:gridCol w="2926080"/>
                <a:gridCol w="640080"/>
                <a:gridCol w="1645920"/>
                <a:gridCol w="1645920"/>
                <a:gridCol w="1947671"/>
              </a:tblGrid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모델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공격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ASR  k=0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ASR  k=N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상대 감소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Qwen2.5-32B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important_instructions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57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8.8%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3.5%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60%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Qwen2.5-32B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C06A1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tool_knowledge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55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14.5%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9.1%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37.5%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Llama-3.1-8B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important_instructions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44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4.5%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1">
                          <a:solidFill>
                            <a:srgbClr val="2F6FC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100%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Llama-3.1-8B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C06A1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tool_knowledge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44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4.5%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1">
                          <a:solidFill>
                            <a:srgbClr val="2F6FC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100%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40080" y="5230368"/>
            <a:ext cx="10908792" cy="960120"/>
          </a:xfrm>
          <a:prstGeom prst="roundRect">
            <a:avLst>
              <a:gd name="adj" fmla="val 9000"/>
            </a:avLst>
          </a:prstGeom>
          <a:solidFill>
            <a:srgbClr val="DBE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14400" y="5394960"/>
            <a:ext cx="10360152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3차가 스스로 단 한계 — </a:t>
            </a:r>
            <a:r>
              <a:rPr sz="11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① 표본이 작다(suite마다 무작위 15쌍)   ② 성공 사례가 거의 </a:t>
            </a:r>
            <a:r>
              <a:rPr sz="1150" b="1">
                <a:solidFill>
                  <a:srgbClr val="C1442A"/>
                </a:solidFill>
                <a:latin typeface="Malgun Gothic"/>
                <a:ea typeface="Malgun Gothic"/>
                <a:cs typeface="Malgun Gothic"/>
              </a:rPr>
              <a:t>slack에 몰림</a:t>
            </a:r>
            <a:r>
              <a:rPr sz="11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  ③ tool-call 파서가 우리 커스텀 구현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06A1F"/>
                </a:solidFill>
                <a:latin typeface="Consolas"/>
                <a:ea typeface="Consolas"/>
                <a:cs typeface="Consolas"/>
              </a:rPr>
              <a:t>01 · 서론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이번 사이클(P16)에 한 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10908792" cy="777240"/>
          </a:xfrm>
          <a:prstGeom prst="roundRect">
            <a:avLst>
              <a:gd name="adj" fmla="val 9000"/>
            </a:avLst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77824" y="1847088"/>
            <a:ext cx="103327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출발점: 교수님 피드백 4번</a:t>
            </a:r>
            <a:r>
              <a:rPr sz="13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— "tool-call 파서를 AgentDojo 기본값으로 바꿔서 실험해봐라"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2697480"/>
          <a:ext cx="10908792" cy="2377440"/>
        </p:xfrm>
        <a:graphic>
          <a:graphicData uri="http://schemas.openxmlformats.org/drawingml/2006/table">
            <a:tbl>
              <a:tblPr bandRow="0">
                <a:tableStyleId>{5C22544A-7EE6-4342-B048-85BDC9FD1C3A}</a:tableStyleId>
              </a:tblPr>
              <a:tblGrid>
                <a:gridCol w="457200"/>
                <a:gridCol w="2743200"/>
                <a:gridCol w="7708392"/>
              </a:tblGrid>
              <a:tr h="347472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#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실험 라인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무엇을 봤나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①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1">
                          <a:solidFill>
                            <a:srgbClr val="16181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파서 A/B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커스텀 → agentdojo_default로 바꿔도 suite별 비대칭(banking/workspace 저조)이 그대로인가?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②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1">
                          <a:solidFill>
                            <a:srgbClr val="16181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표본 최대 확대  (n=148)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slack knockout 실패가 표본이 작아서인가 실재하는가? + 성공한 공격의 성격 분석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③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1">
                          <a:solidFill>
                            <a:srgbClr val="16181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양자화 규명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slack 실패가 나온 유일한 32B 실행이 4bit — 원인이 (1) 4bit 양자화인가 (2) 32B 스케일인가?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" y="5212080"/>
            <a:ext cx="10908792" cy="960120"/>
          </a:xfrm>
          <a:prstGeom prst="roundRect">
            <a:avLst>
              <a:gd name="adj" fmla="val 9000"/>
            </a:avLst>
          </a:prstGeom>
          <a:solidFill>
            <a:srgbClr val="DBE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14400" y="5376672"/>
            <a:ext cx="10360152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결론 미리보기 — </a:t>
            </a:r>
            <a:r>
              <a:rPr sz="11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① 파서는 confound 아님   ② 스케일업 반례 재확정, 단 slack은 특이 케이스   ③ 원인 두 갈래(</a:t>
            </a:r>
            <a:r>
              <a:rPr sz="1100" b="0">
                <a:solidFill>
                  <a:srgbClr val="565C66"/>
                </a:solidFill>
                <a:latin typeface="Consolas"/>
                <a:ea typeface="Consolas"/>
                <a:cs typeface="Consolas"/>
              </a:rPr>
              <a:t>fp4</a:t>
            </a:r>
            <a:r>
              <a:rPr sz="11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양자화 아티팩트 + 약한 32B 스케일 효과)로 분리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06A1F"/>
                </a:solidFill>
                <a:latin typeface="Consolas"/>
                <a:ea typeface="Consolas"/>
                <a:cs typeface="Consolas"/>
              </a:rPr>
              <a:t>02 · 실험 ①  파서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왜 파서를 의심했나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08792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3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Track B(</a:t>
            </a:r>
            <a:r>
              <a:rPr sz="1100" b="0">
                <a:solidFill>
                  <a:srgbClr val="565C66"/>
                </a:solidFill>
                <a:latin typeface="Consolas"/>
                <a:ea typeface="Consolas"/>
                <a:cs typeface="Consolas"/>
              </a:rPr>
              <a:t>run_agentdojo_eval.py</a:t>
            </a:r>
            <a:r>
              <a:rPr sz="13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)가 쓰던 tool-call 프롬프트/파서는 AgentDojo 자체 기본값이 아니라 </a:t>
            </a:r>
            <a:r>
              <a:rPr sz="1300" b="1">
                <a:solidFill>
                  <a:srgbClr val="C1442A"/>
                </a:solidFill>
                <a:latin typeface="Malgun Gothic"/>
                <a:ea typeface="Malgun Gothic"/>
                <a:cs typeface="Malgun Gothic"/>
              </a:rPr>
              <a:t>우리가 만든 커스텀 파서</a:t>
            </a:r>
            <a:r>
              <a:rPr sz="13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였음</a:t>
            </a:r>
          </a:p>
          <a:p>
            <a:pPr algn="l">
              <a:lnSpc>
                <a:spcPct val="130000"/>
              </a:lnSpc>
              <a:spcBef>
                <a:spcPts val="1400"/>
              </a:spcBef>
            </a:pPr>
            <a:r>
              <a:rPr sz="1300" b="1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3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이유: 초기 실험에서 1.5B 모델이 AgentDojo 기본 포맷을 안 따라 대체했던 이력</a:t>
            </a:r>
          </a:p>
          <a:p>
            <a:pPr algn="l">
              <a:lnSpc>
                <a:spcPct val="130000"/>
              </a:lnSpc>
              <a:spcBef>
                <a:spcPts val="1400"/>
              </a:spcBef>
            </a:pPr>
            <a:r>
              <a:rPr sz="1300" b="1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3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우려</a:t>
            </a:r>
            <a:r>
              <a:rPr sz="13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: 지금까지 관찰한 "banking/workspace suite 저조"가 파서 아티팩트일 수 있지 않은가?</a:t>
            </a:r>
          </a:p>
          <a:p>
            <a:pPr algn="l">
              <a:lnSpc>
                <a:spcPct val="130000"/>
              </a:lnSpc>
              <a:spcBef>
                <a:spcPts val="1400"/>
              </a:spcBef>
            </a:pPr>
            <a:r>
              <a:rPr sz="1300" b="1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30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대응</a:t>
            </a:r>
            <a:r>
              <a:rPr sz="13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: </a:t>
            </a:r>
            <a:r>
              <a:rPr sz="1100" b="0">
                <a:solidFill>
                  <a:srgbClr val="565C66"/>
                </a:solidFill>
                <a:latin typeface="Consolas"/>
                <a:ea typeface="Consolas"/>
                <a:cs typeface="Consolas"/>
              </a:rPr>
              <a:t>--tool_call_format agentdojo_default</a:t>
            </a:r>
            <a:r>
              <a:rPr sz="13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옵션 추가(AgentDojo 자체 파서 재사용) 후 같은 조건에서 A/B 비교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06A1F"/>
                </a:solidFill>
                <a:latin typeface="Consolas"/>
                <a:ea typeface="Consolas"/>
                <a:cs typeface="Consolas"/>
              </a:rPr>
              <a:t>02 · 실험 ①  파서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Custom vs AgentDojo-default A/B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90879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099"/>
                </a:solidFill>
                <a:latin typeface="Malgun Gothic"/>
                <a:ea typeface="Malgun Gothic"/>
                <a:cs typeface="Malgun Gothic"/>
              </a:rPr>
              <a:t>같은 모델·heads·seed(42)·suite(banking/slack/workspace, held-out)로 비교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Qwen2.5-7B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2304288"/>
          <a:ext cx="5257800" cy="2157984"/>
        </p:xfrm>
        <a:graphic>
          <a:graphicData uri="http://schemas.openxmlformats.org/drawingml/2006/table">
            <a:tbl>
              <a:tblPr bandRow="0">
                <a:tableStyleId>{5C22544A-7EE6-4342-B048-85BDC9FD1C3A}</a:tableStyleId>
              </a:tblPr>
              <a:tblGrid>
                <a:gridCol w="2148840"/>
                <a:gridCol w="1554480"/>
                <a:gridCol w="155448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지표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custom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agentdojo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n_pairs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43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45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parse ok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57.5%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59.4%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k0 utility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39.5%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42.2%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k0 ASR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4.7%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6.7%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kN ASR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291072" y="2011680"/>
            <a:ext cx="3657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Llama-3.1-8B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91072" y="2304288"/>
          <a:ext cx="5257800" cy="2157984"/>
        </p:xfrm>
        <a:graphic>
          <a:graphicData uri="http://schemas.openxmlformats.org/drawingml/2006/table">
            <a:tbl>
              <a:tblPr bandRow="0">
                <a:tableStyleId>{5C22544A-7EE6-4342-B048-85BDC9FD1C3A}</a:tableStyleId>
              </a:tblPr>
              <a:tblGrid>
                <a:gridCol w="2148840"/>
                <a:gridCol w="1554480"/>
                <a:gridCol w="155448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지표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custom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agentdojo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n_pairs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45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44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parse ok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79.2%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79.1%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k0 utility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35.6%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38.6%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k0 ASR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4.4%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2.3%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kN ASR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2.3%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640080" y="4526280"/>
            <a:ext cx="10908792" cy="1554480"/>
          </a:xfrm>
          <a:prstGeom prst="roundRect">
            <a:avLst>
              <a:gd name="adj" fmla="val 9000"/>
            </a:avLst>
          </a:prstGeom>
          <a:solidFill>
            <a:srgbClr val="DBE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14400" y="4690872"/>
            <a:ext cx="10360152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banking/workspace 저조는 파서 아티팩트가 아님</a:t>
            </a:r>
            <a:r>
              <a:rPr sz="12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— 두 모델·두 파서 모두 같은 suite별 비대칭 재현, parse ok율도 파서와 무관.</a:t>
            </a:r>
          </a:p>
          <a:p>
            <a:pPr algn="l">
              <a:lnSpc>
                <a:spcPct val="125000"/>
              </a:lnSpc>
              <a:spcBef>
                <a:spcPts val="700"/>
              </a:spcBef>
            </a:pPr>
            <a:r>
              <a:rPr sz="12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1.5B의 기본 포맷 실패 전례는 7B/8B에서 재현 안 됨 → </a:t>
            </a:r>
            <a:r>
              <a:rPr sz="12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agentdojo_default를 기본값으로 채택.</a:t>
            </a:r>
            <a:r>
              <a:rPr sz="12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 단 Llama+agentdojo에서만 banking 1건 backfire(표본 1건, 이후 확대로 재확인).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06A1F"/>
                </a:solidFill>
                <a:latin typeface="Consolas"/>
                <a:ea typeface="Consolas"/>
                <a:cs typeface="Consolas"/>
              </a:rPr>
              <a:t>03 · 실험 ②  표본 확대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표본을 왜 최대치로 키웠나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74520"/>
            <a:ext cx="10908792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3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파서 전환 직후 32B vs 7B 비교(초기 n=43~45)에서: 스케일업해도 ASR이 안 오르는 기존 결론은 재확인되지만, </a:t>
            </a:r>
            <a:r>
              <a:rPr sz="1350" b="1">
                <a:solidFill>
                  <a:srgbClr val="C1442A"/>
                </a:solidFill>
                <a:latin typeface="Malgun Gothic"/>
                <a:ea typeface="Malgun Gothic"/>
                <a:cs typeface="Malgun Gothic"/>
              </a:rPr>
              <a:t>slack suite에서만 knockout이 일부 성공 공격을 못 막는</a:t>
            </a:r>
            <a:r>
              <a:rPr sz="13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신호가 눈에 띔</a:t>
            </a:r>
          </a:p>
          <a:p>
            <a:pPr algn="l">
              <a:lnSpc>
                <a:spcPct val="135000"/>
              </a:lnSpc>
              <a:spcBef>
                <a:spcPts val="1800"/>
              </a:spcBef>
            </a:pPr>
            <a:r>
              <a:rPr sz="1350" b="1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3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우연(표본이 작아서)인지 실재하는 패턴인지 가리려면 표본을 최대치로 → </a:t>
            </a:r>
            <a:r>
              <a:rPr sz="135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banking/slack/travel은 held-out 풀 전수</a:t>
            </a:r>
            <a:r>
              <a:rPr sz="13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, workspace만 풀 392쌍 중 45로 캡(</a:t>
            </a:r>
            <a:r>
              <a:rPr sz="1100" b="0">
                <a:solidFill>
                  <a:srgbClr val="565C66"/>
                </a:solidFill>
                <a:latin typeface="Consolas"/>
                <a:ea typeface="Consolas"/>
                <a:cs typeface="Consolas"/>
              </a:rPr>
              <a:t>--limit_pairs 45</a:t>
            </a:r>
            <a:r>
              <a:rPr sz="13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06A1F"/>
                </a:solidFill>
                <a:latin typeface="Consolas"/>
                <a:ea typeface="Consolas"/>
                <a:cs typeface="Consolas"/>
              </a:rPr>
              <a:t>03 · 실험 ②  표본 확대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Qwen2.5-32B 4-suite held-out 풀 확대 (n=148)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91640"/>
          <a:ext cx="10908788" cy="2359152"/>
        </p:xfrm>
        <a:graphic>
          <a:graphicData uri="http://schemas.openxmlformats.org/drawingml/2006/table">
            <a:tbl>
              <a:tblPr bandRow="0">
                <a:tableStyleId>{5C22544A-7EE6-4342-B048-85BDC9FD1C3A}</a:tableStyleId>
              </a:tblPr>
              <a:tblGrid>
                <a:gridCol w="1571605"/>
                <a:gridCol w="2126289"/>
                <a:gridCol w="1432934"/>
                <a:gridCol w="1432934"/>
                <a:gridCol w="1432934"/>
                <a:gridCol w="1432934"/>
                <a:gridCol w="1479158"/>
              </a:tblGrid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suite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 / held-out 풀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k0 util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k0 ASR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kN util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kN ASR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parse ok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banking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45 / 45  전수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66.7%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2.2%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73.3%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2F6FC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52.9%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slack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35 / 35  전수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25.7%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22.9%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22.9%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14.3%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73.4%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travel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28 / 28  전수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25.0%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3.6%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25.0%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2F6FC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83.8%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workspace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40 / 392</a:t>
                      </a: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 (45 샘플)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20.0%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2F6FC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44.4%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1">
                          <a:solidFill>
                            <a:srgbClr val="16181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전체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1">
                          <a:solidFill>
                            <a:srgbClr val="16181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148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16181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36.5%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6.8%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16181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37.8%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3.4%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16181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68.3%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40080" y="4224528"/>
            <a:ext cx="10908792" cy="1874519"/>
          </a:xfrm>
          <a:prstGeom prst="roundRect">
            <a:avLst>
              <a:gd name="adj" fmla="val 9000"/>
            </a:avLst>
          </a:prstGeom>
          <a:solidFill>
            <a:srgbClr val="DBE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4389120"/>
            <a:ext cx="10360152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스케일업 반례 최종 확정</a:t>
            </a:r>
            <a:r>
              <a:rPr sz="12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— 지금까지 가장 큰 표본에서도 전체 ASR 6.8%. 표본 크기 문제일 여지 소멸.</a:t>
            </a:r>
          </a:p>
          <a:p>
            <a:pPr algn="l">
              <a:lnSpc>
                <a:spcPct val="125000"/>
              </a:lnSpc>
              <a:spcBef>
                <a:spcPts val="700"/>
              </a:spcBef>
            </a:pPr>
            <a:r>
              <a:rPr sz="1200" b="1">
                <a:solidFill>
                  <a:srgbClr val="C1442A"/>
                </a:solidFill>
                <a:latin typeface="Malgun Gothic"/>
                <a:ea typeface="Malgun Gothic"/>
                <a:cs typeface="Malgun Gothic"/>
              </a:rPr>
              <a:t>slack만 특이</a:t>
            </a:r>
            <a:r>
              <a:rPr sz="12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— held-out 35쌍 전수 기준 성공한 공격 8건 중 5건을 knockout이 못 막음(억제 3, persist 5). banking/travel/workspace는 완벽 억제(0%).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050" b="0">
                <a:solidFill>
                  <a:srgbClr val="8B9099"/>
                </a:solidFill>
                <a:latin typeface="Malgun Gothic"/>
                <a:ea typeface="Malgun Gothic"/>
                <a:cs typeface="Malgun Gothic"/>
              </a:rPr>
              <a:t>banking·slack·travel은 held-out 풀 전수라 표본 논란 없음. workspace는 392쌍 중 40쌍만 봤지만 k0 ASR 자체가 0%라 결론에 영향 없음.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06A1F"/>
                </a:solidFill>
                <a:latin typeface="Consolas"/>
                <a:ea typeface="Consolas"/>
                <a:cs typeface="Consolas"/>
              </a:rPr>
              <a:t>03 · 실험 ②  표본 확대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성공한 공격은 전부 "단순 공격"이었다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18488"/>
            <a:ext cx="10908792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8B9099"/>
                </a:solidFill>
                <a:latin typeface="Malgun Gothic"/>
                <a:ea typeface="Malgun Gothic"/>
                <a:cs typeface="Malgun Gothic"/>
              </a:rPr>
              <a:t>slack 성공 공격의 injection_task별 분해 (held-out 35쌍 전수,  k0 성공수 → kN 성공수)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965960"/>
          <a:ext cx="10908788" cy="2523744"/>
        </p:xfrm>
        <a:graphic>
          <a:graphicData uri="http://schemas.openxmlformats.org/drawingml/2006/table">
            <a:tbl>
              <a:tblPr bandRow="0">
                <a:tableStyleId>{5C22544A-7EE6-4342-B048-85BDC9FD1C3A}</a:tableStyleId>
              </a:tblPr>
              <a:tblGrid>
                <a:gridCol w="691054"/>
                <a:gridCol w="3702078"/>
                <a:gridCol w="691054"/>
                <a:gridCol w="1332748"/>
                <a:gridCol w="1480831"/>
                <a:gridCol w="1480831"/>
                <a:gridCol w="1530192"/>
              </a:tblGrid>
              <a:tr h="3291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inj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목표 · 채점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call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7B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Llama-8B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32B fp4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32B bf16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16181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피싱 링크 전송 · 단일조건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4→0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3→0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3→2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3→3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16181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피싱 URL 방문 · 단일조건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2→0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1→0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2→0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16181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초대·추가·제거 · trace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2→0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1→0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4→3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4→2  †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4채널 유출 · 5-way AND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1→0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general 유출 · 3-way AND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16181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1/3/5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1">
                          <a:solidFill>
                            <a:srgbClr val="16181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달성 가능한 공격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/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1">
                          <a:solidFill>
                            <a:srgbClr val="2F6FC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6→0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1">
                          <a:solidFill>
                            <a:srgbClr val="2F6FC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6→0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8→5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9→5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846320"/>
            <a:ext cx="10908792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8B9099"/>
                </a:solidFill>
                <a:latin typeface="Malgun Gothic"/>
                <a:ea typeface="Malgun Gothic"/>
                <a:cs typeface="Malgun Gothic"/>
              </a:rPr>
              <a:t>†  32B bf16 inj_5 에 backfire 1건(k0=False→kN=True) 추가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1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관측</a:t>
            </a:r>
            <a:r>
              <a:rPr sz="11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: 성공한 공격(k0=True)은 전부 1/3/5(단순).  </a:t>
            </a:r>
            <a:r>
              <a:rPr sz="1100" b="1">
                <a:solidFill>
                  <a:srgbClr val="C1442A"/>
                </a:solidFill>
                <a:latin typeface="Malgun Gothic"/>
                <a:ea typeface="Malgun Gothic"/>
                <a:cs typeface="Malgun Gothic"/>
              </a:rPr>
              <a:t>단 2/4의 0%는 실행 난이도가 아니라 연언 채점(near-unwinnable) 아티팩트</a:t>
            </a:r>
            <a:r>
              <a:rPr sz="11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— 분석에서 제외.</a:t>
            </a:r>
          </a:p>
          <a:p>
            <a:pPr algn="l">
              <a:lnSpc>
                <a:spcPct val="125000"/>
              </a:lnSpc>
              <a:spcBef>
                <a:spcPts val="500"/>
              </a:spcBef>
            </a:pPr>
            <a:r>
              <a:rPr sz="110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진짜 신호</a:t>
            </a:r>
            <a:r>
              <a:rPr sz="11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: 달성 가능한 1/3/5 범위에서 8B급은 전량 억제(6→0), 32B만 절반 이상 통과(inj_1은 bf16에서 3/3 그대로).  → k-sweep으로 억제력 보강 여부가 후속 검증 포인트.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06A1F"/>
                </a:solidFill>
                <a:latin typeface="Consolas"/>
                <a:ea typeface="Consolas"/>
                <a:cs typeface="Consolas"/>
              </a:rPr>
              <a:t>04 · 실험 ③  양자화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양자화를 왜 의심했나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08792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3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slack knockout 실패가 나온 유일한 실행은 </a:t>
            </a:r>
            <a:r>
              <a:rPr sz="1300" b="1">
                <a:solidFill>
                  <a:srgbClr val="C1442A"/>
                </a:solidFill>
                <a:latin typeface="Malgun Gothic"/>
                <a:ea typeface="Malgun Gothic"/>
                <a:cs typeface="Malgun Gothic"/>
              </a:rPr>
              <a:t>32B (4bit fp4)</a:t>
            </a:r>
            <a:r>
              <a:rPr sz="13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— 대조군 8B급(Llama, Qwen 7B)은 전부 </a:t>
            </a:r>
            <a:r>
              <a:rPr sz="13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bf16</a:t>
            </a:r>
          </a:p>
          <a:p>
            <a:pPr algn="l">
              <a:lnSpc>
                <a:spcPct val="130000"/>
              </a:lnSpc>
              <a:spcBef>
                <a:spcPts val="1400"/>
              </a:spcBef>
            </a:pPr>
            <a:r>
              <a:rPr sz="1300" b="1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3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즉 원인이 </a:t>
            </a:r>
            <a:r>
              <a:rPr sz="13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(1) 32B 스케일</a:t>
            </a:r>
            <a:r>
              <a:rPr sz="13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인지 </a:t>
            </a:r>
            <a:r>
              <a:rPr sz="13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(2) 4bit 양자화</a:t>
            </a:r>
            <a:r>
              <a:rPr sz="13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인지가 지금까지 데이터로는 공변되어 구분 불가능</a:t>
            </a:r>
          </a:p>
          <a:p>
            <a:pPr algn="l">
              <a:lnSpc>
                <a:spcPct val="130000"/>
              </a:lnSpc>
              <a:spcBef>
                <a:spcPts val="1400"/>
              </a:spcBef>
            </a:pPr>
            <a:r>
              <a:rPr sz="1300" b="1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3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확인 절차: 7B에서 bf16 vs 4bit 직접 비교 → 4bit 세팅 자체(품질) 점검 → 32B를 bf16으로 재실행해 양자화 배제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06A1F"/>
                </a:solidFill>
                <a:latin typeface="Consolas"/>
                <a:ea typeface="Consolas"/>
                <a:cs typeface="Consolas"/>
              </a:rPr>
              <a:t>04 · 실험 ③  양자화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7B: bf16 vs fp4 vs nf4+double_quant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91640"/>
          <a:ext cx="10908792" cy="1682496"/>
        </p:xfrm>
        <a:graphic>
          <a:graphicData uri="http://schemas.openxmlformats.org/drawingml/2006/table">
            <a:tbl>
              <a:tblPr bandRow="0">
                <a:tableStyleId>{5C22544A-7EE6-4342-B048-85BDC9FD1C3A}</a:tableStyleId>
              </a:tblPr>
              <a:tblGrid>
                <a:gridCol w="2743200"/>
                <a:gridCol w="1920240"/>
                <a:gridCol w="1737360"/>
                <a:gridCol w="1737360"/>
                <a:gridCol w="1737360"/>
                <a:gridCol w="1033272"/>
              </a:tblGrid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실행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quant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slack k0 ASR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slack kN ASR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전체 k0 util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slack backfire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7B bf16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bf16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0.171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2F6FC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0.000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0.311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7B fp4 (bnb 기본값)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fp4 / no-dq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0.057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0.057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0.178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7B nf4 + double_quant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nf4 / dq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0.343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0.057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0.254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40080" y="3794760"/>
            <a:ext cx="10908792" cy="2011680"/>
          </a:xfrm>
          <a:prstGeom prst="roundRect">
            <a:avLst>
              <a:gd name="adj" fmla="val 9000"/>
            </a:avLst>
          </a:prstGeom>
          <a:solidFill>
            <a:srgbClr val="DBE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3977639"/>
            <a:ext cx="10360152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fp4 아티팩트 확정</a:t>
            </a:r>
            <a:r>
              <a:rPr sz="12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: bnb 4bit 기본값(fp4 + double_quant off)이 모델을 과손상 → knockout이 손상된 궤적에서 backfire.  nf4+double_quant로 utility 회복(0.178→0.254) + backfire 2→1.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2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비결정성 아님</a:t>
            </a:r>
            <a:r>
              <a:rPr sz="12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: 동일 조건 2회(RTX 4090) 152/152 쌍 전 필드 일치 — greedy+고정 seed에서 완전 결정론적.  → </a:t>
            </a:r>
            <a:r>
              <a:rPr sz="1100" b="0">
                <a:solidFill>
                  <a:srgbClr val="565C66"/>
                </a:solidFill>
                <a:latin typeface="Consolas"/>
                <a:ea typeface="Consolas"/>
                <a:cs typeface="Consolas"/>
              </a:rPr>
              <a:t>run_agentdojo_eval.py</a:t>
            </a:r>
            <a:r>
              <a:rPr sz="12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4bit 기본값을 nf4+double_quant on으로 교체 완료.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06A1F"/>
                </a:solidFill>
                <a:latin typeface="Consolas"/>
                <a:ea typeface="Consolas"/>
                <a:cs typeface="Consolas"/>
              </a:rPr>
              <a:t>04 · 실험 ③  양자화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32B: fp4 / nf4dq (비결정적) / bf16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91640"/>
          <a:ext cx="10908792" cy="2048256"/>
        </p:xfrm>
        <a:graphic>
          <a:graphicData uri="http://schemas.openxmlformats.org/drawingml/2006/table">
            <a:tbl>
              <a:tblPr bandRow="0">
                <a:tableStyleId>{5C22544A-7EE6-4342-B048-85BDC9FD1C3A}</a:tableStyleId>
              </a:tblPr>
              <a:tblGrid>
                <a:gridCol w="2468880"/>
                <a:gridCol w="2651760"/>
                <a:gridCol w="1280160"/>
                <a:gridCol w="1280160"/>
                <a:gridCol w="914400"/>
                <a:gridCol w="1280160"/>
                <a:gridCol w="1033272"/>
              </a:tblGrid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실행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GPU / quant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slack k0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slack kN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supp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backfire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persist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32B nf4dq #1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A6000 / nf4dq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0.229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0.229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32B nf4dq #2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Blackwell / nf4dq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0.171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0.114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2F6FC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32B bf16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1">
                          <a:solidFill>
                            <a:srgbClr val="16181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A6000+2 / bf16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0.257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0.143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(대조) 7B·8B bf16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4090 / bf16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~0.18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2F6FC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0.000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전량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2F6FC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—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40080" y="3931920"/>
            <a:ext cx="10908792" cy="1874519"/>
          </a:xfrm>
          <a:prstGeom prst="roundRect">
            <a:avLst>
              <a:gd name="adj" fmla="val 9000"/>
            </a:avLst>
          </a:prstGeom>
          <a:solidFill>
            <a:srgbClr val="DBE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4114800"/>
            <a:ext cx="10360152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두 nf4dq 실행이 교집합 136쌍 중 24쌍 불일치(18쌍이 baseline 차이) → </a:t>
            </a:r>
            <a:r>
              <a:rPr sz="1200" b="1">
                <a:solidFill>
                  <a:srgbClr val="C1442A"/>
                </a:solidFill>
                <a:latin typeface="Malgun Gothic"/>
                <a:ea typeface="Malgun Gothic"/>
                <a:cs typeface="Malgun Gothic"/>
              </a:rPr>
              <a:t>32B-4bit 평가는 run-to-run 비결정적</a:t>
            </a:r>
            <a:r>
              <a:rPr sz="12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— 이 경로로는 스케일 판정 불가.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20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bf16으로 우회</a:t>
            </a:r>
            <a:r>
              <a:rPr sz="12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: 완주율 100%·결정론적인데도 kN ASR 0.143(≠0) + backfire 1 — 7B·8B bf16(전량 억제·backfire 0)과 질적으로 다름 → </a:t>
            </a:r>
            <a:r>
              <a:rPr sz="12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fp4와 무관한 스케일 기여 확인.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06A1F"/>
                </a:solidFill>
                <a:latin typeface="Consolas"/>
                <a:ea typeface="Consolas"/>
                <a:cs typeface="Consolas"/>
              </a:rPr>
              <a:t>05 · 종합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종합 결론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08792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1.  </a:t>
            </a:r>
            <a:r>
              <a:rPr sz="125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파서는 confound 아님</a:t>
            </a:r>
            <a:r>
              <a:rPr sz="12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— banking/workspace 저조는 커스텀 파서 탓이 아니라 모델·suite 자체의 성질. agentdojo_default로 전환 완료.</a:t>
            </a:r>
          </a:p>
          <a:p>
            <a:pPr algn="l">
              <a:lnSpc>
                <a:spcPct val="132000"/>
              </a:lnSpc>
              <a:spcBef>
                <a:spcPts val="1500"/>
              </a:spcBef>
            </a:pPr>
            <a:r>
              <a:rPr sz="1400" b="1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2.  </a:t>
            </a:r>
            <a:r>
              <a:rPr sz="125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스케일업 반례 재확정 (n=148)</a:t>
            </a:r>
            <a:r>
              <a:rPr sz="12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— 스케일을 키워도 전체 ASR은 안 오름(6.8%). 단 slack에서만 달성 가능한 공격 1/3/5 중 절반 이상 persist.</a:t>
            </a:r>
          </a:p>
          <a:p>
            <a:pPr algn="l">
              <a:lnSpc>
                <a:spcPct val="132000"/>
              </a:lnSpc>
              <a:spcBef>
                <a:spcPts val="1500"/>
              </a:spcBef>
            </a:pPr>
            <a:r>
              <a:rPr sz="1400" b="1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3.  </a:t>
            </a:r>
            <a:r>
              <a:rPr sz="125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원인 두 갈래로 분리 규명</a:t>
            </a:r>
            <a:r>
              <a:rPr sz="12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— (a) fp4 4bit 양자화 아티팩트(확정, nf4+dq로 해소·기본값 교체)  (b) 32B 스케일 효과(약하게 확정, bf16 단독에서도 불완전 + backfire 1).</a:t>
            </a:r>
          </a:p>
          <a:p>
            <a:pPr algn="l">
              <a:lnSpc>
                <a:spcPct val="132000"/>
              </a:lnSpc>
              <a:spcBef>
                <a:spcPts val="1500"/>
              </a:spcBef>
            </a:pPr>
            <a:r>
              <a:rPr sz="1400" b="1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4.  </a:t>
            </a:r>
            <a:r>
              <a:rPr sz="125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순효과는 여전히 방어적</a:t>
            </a:r>
            <a:r>
              <a:rPr sz="12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(suppressed 5 &gt; backfire 1) — "못 막는다"가 아니라 "불완전 + 가끔 backfire".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06A1F"/>
                </a:solidFill>
                <a:latin typeface="Consolas"/>
                <a:ea typeface="Consolas"/>
                <a:cs typeface="Consolas"/>
              </a:rPr>
              <a:t>06 · 대조 실험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32B bf16 banking — "slack 특유" 확정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90879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099"/>
                </a:solidFill>
                <a:latin typeface="Malgun Gothic"/>
                <a:ea typeface="Malgun Gothic"/>
                <a:cs typeface="Malgun Gothic"/>
              </a:rPr>
              <a:t>같은 32B bf16 스택(동일 heads·설정)에서 --suite 만 slack → banking 으로 교체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057400"/>
          <a:ext cx="10908792" cy="1371600"/>
        </p:xfrm>
        <a:graphic>
          <a:graphicData uri="http://schemas.openxmlformats.org/drawingml/2006/table">
            <a:tbl>
              <a:tblPr bandRow="0">
                <a:tableStyleId>{5C22544A-7EE6-4342-B048-85BDC9FD1C3A}</a:tableStyleId>
              </a:tblPr>
              <a:tblGrid>
                <a:gridCol w="2377440"/>
                <a:gridCol w="1371600"/>
                <a:gridCol w="1371600"/>
                <a:gridCol w="1371600"/>
                <a:gridCol w="4416552"/>
              </a:tblGrid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suite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k0 ASR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kN ASR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backfire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판정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slack (S11 재인용)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0.257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0.143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 / 9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스케일 효과로 불완전 억제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banking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 b="1">
                          <a:solidFill>
                            <a:srgbClr val="2F6FC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 / 42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baseline부터 공격 실패, knockout도 새 leak 없음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" y="3840480"/>
            <a:ext cx="10908792" cy="2103120"/>
          </a:xfrm>
          <a:prstGeom prst="roundRect">
            <a:avLst>
              <a:gd name="adj" fmla="val 9000"/>
            </a:avLst>
          </a:prstGeom>
          <a:solidFill>
            <a:srgbClr val="DBE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14400" y="4023360"/>
            <a:ext cx="10360152" cy="1783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banking은 42쌍 전부 baseline부터 공격 실패라 "억제율" 틀이 안 맞음 → 판정 근거는 </a:t>
            </a:r>
            <a:r>
              <a:rPr sz="12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backfire</a:t>
            </a:r>
            <a:r>
              <a:rPr sz="12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: k0=False인데 knockout 후 kN=True로 뒤집힌 쌍이 있는지. </a:t>
            </a:r>
            <a:r>
              <a:rPr sz="120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0/42로 하나도 없음.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2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같은 스택에서 slack만 backfire 1건이 나왔던 것과 대비 → </a:t>
            </a:r>
            <a:r>
              <a:rPr sz="1200" b="1">
                <a:solidFill>
                  <a:srgbClr val="C1442A"/>
                </a:solidFill>
                <a:latin typeface="Malgun Gothic"/>
                <a:ea typeface="Malgun Gothic"/>
                <a:cs typeface="Malgun Gothic"/>
              </a:rPr>
              <a:t>32B 스케일 효과는 slack에 국한, banking엔 전이 안 됨.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050" b="1">
                <a:solidFill>
                  <a:srgbClr val="8B9099"/>
                </a:solidFill>
                <a:latin typeface="Malgun Gothic"/>
                <a:ea typeface="Malgun Gothic"/>
                <a:cs typeface="Malgun Gothic"/>
              </a:rPr>
              <a:t>⚠️ caveat</a:t>
            </a:r>
            <a:r>
              <a:rPr sz="1050" b="0">
                <a:solidFill>
                  <a:srgbClr val="8B9099"/>
                </a:solidFill>
                <a:latin typeface="Malgun Gothic"/>
                <a:ea typeface="Malgun Gothic"/>
                <a:cs typeface="Malgun Gothic"/>
              </a:rPr>
              <a:t>: 완주율 42/45(3쌍 원인불명 누락) · banking 자체가 baseline 성공률 낮은 suite.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06A1F"/>
                </a:solidFill>
                <a:latin typeface="Consolas"/>
                <a:ea typeface="Consolas"/>
                <a:cs typeface="Consolas"/>
              </a:rPr>
              <a:t>07 · 한계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한계 및 다음 단계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91640"/>
          <a:ext cx="10908792" cy="4297680"/>
        </p:xfrm>
        <a:graphic>
          <a:graphicData uri="http://schemas.openxmlformats.org/drawingml/2006/table">
            <a:tbl>
              <a:tblPr bandRow="0">
                <a:tableStyleId>{5C22544A-7EE6-4342-B048-85BDC9FD1C3A}</a:tableStyleId>
              </a:tblPr>
              <a:tblGrid>
                <a:gridCol w="411480"/>
                <a:gridCol w="6035040"/>
                <a:gridCol w="4462272"/>
              </a:tblGrid>
              <a:tr h="347472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#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한계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향후 방향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32B-4bit 평가의 run-to-run 비결정성</a:t>
                      </a: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원인 미규명(별개 이슈)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bnb 4bit 커널 / 디바이스 배치 조건 추가 조사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slack knockout 불안정의 최종 원인</a:t>
                      </a: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이 "단순 공격의 실행 관성" 가설 수준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k-sweep(head 개수 ↑)으로 억제력 보강되는지 확인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복합 공격(2/4)은 채점이 near-unwinnable</a:t>
                      </a: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— knockout 효과 측정 축이 없음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AgentDojo 외 벤치마크 / 자체 시나리오로 다단계 채점 보완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Llama-8B banking backfire 1건</a:t>
                      </a: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(표본 1건) 미확인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필요 시 Llama도 n=148급 확대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다른 아키텍처(Qwen3, Llama-70B) 교차검증 보류 중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다음 사이클 후보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banking 대조 검증력 약함</a:t>
                      </a: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(baseline 성공 0/42) + 완주율 93.3%(로그 미보존)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k-sweep으로 banking 성공률 ↑ 후 재검증 / 재실행 시 로그 보존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06A1F"/>
                </a:solidFill>
                <a:latin typeface="Consolas"/>
                <a:ea typeface="Consolas"/>
                <a:cs typeface="Consolas"/>
              </a:rPr>
              <a:t>08 · 마무리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마무리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3453414" cy="1783080"/>
          </a:xfrm>
          <a:prstGeom prst="roundRect">
            <a:avLst>
              <a:gd name="adj" fmla="val 9000"/>
            </a:avLst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59536" y="1874519"/>
            <a:ext cx="3014502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파서 전환</a:t>
            </a:r>
          </a:p>
          <a:p>
            <a:pPr algn="l">
              <a:lnSpc>
                <a:spcPct val="122000"/>
              </a:lnSpc>
              <a:spcBef>
                <a:spcPts val="700"/>
              </a:spcBef>
            </a:pPr>
            <a:r>
              <a:rPr sz="1050" b="0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·  </a:t>
            </a:r>
            <a:r>
              <a:rPr sz="10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confound 아니었음</a:t>
            </a:r>
          </a:p>
          <a:p>
            <a:pPr algn="l">
              <a:lnSpc>
                <a:spcPct val="122000"/>
              </a:lnSpc>
              <a:spcBef>
                <a:spcPts val="700"/>
              </a:spcBef>
            </a:pPr>
            <a:r>
              <a:rPr sz="1050" b="0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·  </a:t>
            </a:r>
            <a:r>
              <a:rPr sz="10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agentdojo_default 기본값 채택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67814" y="1691640"/>
            <a:ext cx="3453414" cy="1783080"/>
          </a:xfrm>
          <a:prstGeom prst="roundRect">
            <a:avLst>
              <a:gd name="adj" fmla="val 9000"/>
            </a:avLst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587270" y="1874519"/>
            <a:ext cx="3014502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표본 확대 (n=148)</a:t>
            </a:r>
          </a:p>
          <a:p>
            <a:pPr algn="l">
              <a:lnSpc>
                <a:spcPct val="122000"/>
              </a:lnSpc>
              <a:spcBef>
                <a:spcPts val="700"/>
              </a:spcBef>
            </a:pPr>
            <a:r>
              <a:rPr sz="1050" b="0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·  </a:t>
            </a:r>
            <a:r>
              <a:rPr sz="10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스케일업 반례 최종 확정</a:t>
            </a:r>
          </a:p>
          <a:p>
            <a:pPr algn="l">
              <a:lnSpc>
                <a:spcPct val="122000"/>
              </a:lnSpc>
              <a:spcBef>
                <a:spcPts val="700"/>
              </a:spcBef>
            </a:pPr>
            <a:r>
              <a:rPr sz="1050" b="0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·  </a:t>
            </a:r>
            <a:r>
              <a:rPr sz="10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성공 공격은 전부 단순(1/3/5), 8B 전량 억제 / 32B만 절반 통과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95548" y="1691640"/>
            <a:ext cx="3453414" cy="1783080"/>
          </a:xfrm>
          <a:prstGeom prst="roundRect">
            <a:avLst>
              <a:gd name="adj" fmla="val 9000"/>
            </a:avLst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315004" y="1874519"/>
            <a:ext cx="3014502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양자화 규명</a:t>
            </a:r>
          </a:p>
          <a:p>
            <a:pPr algn="l">
              <a:lnSpc>
                <a:spcPct val="122000"/>
              </a:lnSpc>
              <a:spcBef>
                <a:spcPts val="700"/>
              </a:spcBef>
            </a:pPr>
            <a:r>
              <a:rPr sz="1050" b="0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·  </a:t>
            </a:r>
            <a:r>
              <a:rPr sz="10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fp4 아티팩트 확정(기본값 교체)</a:t>
            </a:r>
          </a:p>
          <a:p>
            <a:pPr algn="l">
              <a:lnSpc>
                <a:spcPct val="122000"/>
              </a:lnSpc>
              <a:spcBef>
                <a:spcPts val="700"/>
              </a:spcBef>
            </a:pPr>
            <a:r>
              <a:rPr sz="1050" b="0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·  </a:t>
            </a:r>
            <a:r>
              <a:rPr sz="10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+ 32B 스케일 효과 확정, 순효과는 방어적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749039"/>
            <a:ext cx="10908792" cy="1691640"/>
          </a:xfrm>
          <a:prstGeom prst="roundRect">
            <a:avLst>
              <a:gd name="adj" fmla="val 9000"/>
            </a:avLst>
          </a:prstGeom>
          <a:solidFill>
            <a:srgbClr val="DBE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14400" y="3931920"/>
            <a:ext cx="103601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대조 실험 — </a:t>
            </a:r>
            <a:r>
              <a:rPr sz="13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banking 대조로 32B 스케일 효과가 </a:t>
            </a:r>
            <a:r>
              <a:rPr sz="1300" b="1">
                <a:solidFill>
                  <a:srgbClr val="C1442A"/>
                </a:solidFill>
                <a:latin typeface="Malgun Gothic"/>
                <a:ea typeface="Malgun Gothic"/>
                <a:cs typeface="Malgun Gothic"/>
              </a:rPr>
              <a:t>slack에 국한</a:t>
            </a:r>
            <a:r>
              <a:rPr sz="13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됨을 확정.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3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"모델을 키우면 전반적으로 위험해진다"가 아니라 </a:t>
            </a:r>
            <a:r>
              <a:rPr sz="130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"특정 suite의 단순 공격에서만, 가끔 불완전 + backfire".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669280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다음: </a:t>
            </a:r>
            <a:r>
              <a:rPr sz="1050" b="0">
                <a:solidFill>
                  <a:srgbClr val="8B9099"/>
                </a:solidFill>
                <a:latin typeface="Malgun Gothic"/>
                <a:ea typeface="Malgun Gothic"/>
                <a:cs typeface="Malgun Gothic"/>
              </a:rPr>
              <a:t>이 deck의 pptx 산출 완료 · k-sweep 착수 / Qwen3-8B 진단은 다음 사이클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