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10957255" y="5623560"/>
            <a:ext cx="1234440" cy="1234440"/>
          </a:xfrm>
          <a:prstGeom prst="rt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256032"/>
            <a:ext cx="107533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Malgun Gothic"/>
              </a:rPr>
              <a:t>결과 — P2-a (Held-out Split)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565C66"/>
                </a:solidFill>
                <a:latin typeface="Malgun Gothic"/>
              </a:rPr>
              <a:t>탐색에 안 쓰인 문구 조합에도 그대로 재현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11094415" cy="25400"/>
          </a:xfrm>
          <a:prstGeom prst="rect">
            <a:avLst/>
          </a:prstGeom>
          <a:solidFill>
            <a:srgbClr val="435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65C66"/>
                </a:solidFill>
                <a:latin typeface="Malgun Gothic"/>
              </a:rPr>
              <a:t>공격 스타일 5종 중 4종으로만 head를 탐색하고, 나머지 1종은 head 선정에서 배제했다가 평가에만 사용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514600"/>
          <a:ext cx="11094412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7886"/>
                <a:gridCol w="2572617"/>
                <a:gridCol w="1607886"/>
                <a:gridCol w="2411829"/>
                <a:gridCol w="1447097"/>
                <a:gridCol w="1447097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held-out 스타일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k=10 malicious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k=10 read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5종 각각 순환 테스트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0.99~0.66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0.0000 (5종 전부)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0.52~0.56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0.51~0.52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동일 방식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0.9999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0.0002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0.8418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0.9261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4343400"/>
            <a:ext cx="11094415" cy="1005840"/>
          </a:xfrm>
          <a:prstGeom prst="roundRect">
            <a:avLst>
              <a:gd name="adj" fmla="val 12000"/>
            </a:avLst>
          </a:prstGeom>
          <a:solidFill>
            <a:srgbClr val="F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343400"/>
            <a:ext cx="10545775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head 선정에 전혀 쓰이지 않은 held-out 문구에도 knockout 효과가 5종 전부·두 스케일 모두에서 재현</a:t>
            </a:r>
            <a:r>
              <a:rPr sz="1300" b="0" i="0">
                <a:solidFill>
                  <a:srgbClr val="1A1A1A"/>
                </a:solidFill>
                <a:latin typeface="Malgun Gothic"/>
              </a:rPr>
              <a:t> — “30개 템플릿에만 통하는 head”라는 과적합 우려 해소.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10957255" y="5623560"/>
            <a:ext cx="1234440" cy="1234440"/>
          </a:xfrm>
          <a:prstGeom prst="rt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256032"/>
            <a:ext cx="107533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Malgun Gothic"/>
              </a:rPr>
              <a:t>결과 — P2-b (미지의 공격 문구)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565C66"/>
                </a:solidFill>
                <a:latin typeface="Malgun Gothic"/>
              </a:rPr>
              <a:t>완전히 새로운 표현 방식에도 동일하게 붕괴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11094415" cy="25400"/>
          </a:xfrm>
          <a:prstGeom prst="rect">
            <a:avLst/>
          </a:prstGeom>
          <a:solidFill>
            <a:srgbClr val="435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65C66"/>
                </a:solidFill>
                <a:latin typeface="Malgun Gothic"/>
              </a:rPr>
              <a:t>다국어 혼용 / 코드블록 위장 / 유니코드 난독화 / 짧고 우회적인 표현 — 기존 5종과 표현 축 자체가 다른 4종을 추가 작성해 검증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514600"/>
          <a:ext cx="11094413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11829"/>
                <a:gridCol w="4341292"/>
                <a:gridCol w="434129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기존 5종 (k=0→k=10)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8B9099"/>
                          </a:solidFill>
                          <a:latin typeface="Malgun Gothic"/>
                        </a:rPr>
                        <a:t>미지 4종 (k=0→k=10)</a:t>
                      </a:r>
                    </a:p>
                  </a:txBody>
                  <a:tcPr marL="73152" marR="73152" marT="36576" marB="36576">
                    <a:solidFill>
                      <a:srgbClr val="E9EAE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1.5B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0.9118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0.9228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7B (4bit)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0.9690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Malgun Gothic"/>
                        </a:rPr>
                        <a:t>0.9998 → 0.0000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48640" y="3977639"/>
            <a:ext cx="11094415" cy="1234440"/>
          </a:xfrm>
          <a:prstGeom prst="roundRect">
            <a:avLst>
              <a:gd name="adj" fmla="val 12000"/>
            </a:avLst>
          </a:prstGeom>
          <a:solidFill>
            <a:srgbClr val="F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10545775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1A1A1A"/>
                </a:solidFill>
                <a:latin typeface="Malgun Gothic"/>
              </a:rPr>
              <a:t>문구는 knockout 효과를 전혀 약화시키지 않는다</a:t>
            </a:r>
            <a:r>
              <a:rPr sz="1300" b="0" i="0">
                <a:solidFill>
                  <a:srgbClr val="1A1A1A"/>
                </a:solidFill>
                <a:latin typeface="Malgun Gothic"/>
              </a:rPr>
              <a:t> — control head가 “특정 패턴”이 아니라 “명령으로 해석되는 것 자체”에</a:t>
            </a:r>
            <a:r>
              <a:rPr sz="1300" b="0" i="0">
                <a:solidFill>
                  <a:srgbClr val="1A1A1A"/>
                </a:solidFill>
                <a:latin typeface="Malgun Gothic"/>
              </a:rPr>
              <a:t>반응한다는 증거.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10957255" y="5623560"/>
            <a:ext cx="1234440" cy="1234440"/>
          </a:xfrm>
          <a:prstGeom prst="rt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256032"/>
            <a:ext cx="107533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Malgun Gothic"/>
              </a:rPr>
              <a:t>방법론 — 적용 아키텍처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565C66"/>
                </a:solidFill>
                <a:latin typeface="Malgun Gothic"/>
              </a:rPr>
              <a:t>monkey_patch부터 edge knockout까지, 8단계 파이프라인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11094415" cy="25400"/>
          </a:xfrm>
          <a:prstGeom prst="rect">
            <a:avLst/>
          </a:prstGeom>
          <a:solidFill>
            <a:srgbClr val="435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783080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1. monkey_patch(modeling_mod)  —  backward 규칙을 AttnLRP로 교체 (모델 로드 전)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13432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313432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2. from_pretrained(attn_implementation='eager')  —  패치된 모듈로 모델 생성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43784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843784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3. output_attentions=True → out.attentions, 각 attn_map에 retain_grad()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374136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74136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4. target_logit.backward()  —  관심 토큰 하나만 역전파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04488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04488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5. rel = ReLU(attn × attn.grad), ρ^h_j 집계 (Eq. 7, 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434840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3484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6. read_score / internal_score / external_score  —  타깃·key span만 바꿔 3회 반복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65192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965192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7. head_ranking.py  —  top-K + Jaccard → control_heads_both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495544"/>
            <a:ext cx="11094415" cy="457200"/>
          </a:xfrm>
          <a:prstGeom prst="roundRect">
            <a:avLst>
              <a:gd name="adj" fmla="val 15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495544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50" b="0" i="0">
                <a:solidFill>
                  <a:srgbClr val="1A1A1A"/>
                </a:solidFill>
                <a:latin typeface="Malgun Gothic"/>
              </a:rPr>
              <a:t>8. edge_ablation.py  —  D_inj edge만 knockout (순수 forward, gradient 불필요)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6071616"/>
            <a:ext cx="11094415" cy="868680"/>
          </a:xfrm>
          <a:prstGeom prst="roundRect">
            <a:avLst>
              <a:gd name="adj" fmla="val 12000"/>
            </a:avLst>
          </a:prstGeom>
          <a:solidFill>
            <a:srgbClr val="FAD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071616"/>
            <a:ext cx="1054577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 i="0">
                <a:solidFill>
                  <a:srgbClr val="1A1A1A"/>
                </a:solidFill>
                <a:latin typeface="Malgun Gothic"/>
              </a:rPr>
              <a:t>relevance 산출(1~6, 파란색)은 gradient가 필요해 eager+monkey_patch가 필수지만, </a:t>
            </a:r>
            <a:r>
              <a:rPr sz="1300" b="1" i="0">
                <a:solidFill>
                  <a:srgbClr val="1A1A1A"/>
                </a:solidFill>
                <a:latin typeface="Malgun Gothic"/>
              </a:rPr>
              <a:t>knockout 적용(7~8, 회색)은 순수 forward라 4bit 양자화 모델에도 그대로 쓸 수 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5400000">
            <a:off x="10957255" y="5623560"/>
            <a:ext cx="1234440" cy="1234440"/>
          </a:xfrm>
          <a:prstGeom prst="rtTriangl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6" y="256032"/>
            <a:ext cx="1075334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1A1A1A"/>
                </a:solidFill>
                <a:latin typeface="Malgun Gothic"/>
              </a:rPr>
              <a:t>한계 및 다음 단계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565C66"/>
                </a:solidFill>
                <a:latin typeface="Malgun Gothic"/>
              </a:rPr>
              <a:t>지금 결과가 완전한 배포 가능한 방어는 아니다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81328"/>
            <a:ext cx="11094415" cy="25400"/>
          </a:xfrm>
          <a:prstGeom prst="rect">
            <a:avLst/>
          </a:prstGeom>
          <a:solidFill>
            <a:srgbClr val="435A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828800"/>
            <a:ext cx="5410047" cy="2148840"/>
          </a:xfrm>
          <a:prstGeom prst="roundRect">
            <a:avLst>
              <a:gd name="adj" fmla="val 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029968"/>
            <a:ext cx="4897983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435A89"/>
                </a:solidFill>
                <a:latin typeface="Malgun Gothic"/>
              </a:rPr>
              <a:t>① 오라클 knockout 문제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지금 edge knockout은 매 요청마다 injection span(data_inj)의 정확한 위치를 알아야 지운다 — 이미 공격 위치를 안다는 뜻이라 실전 배포와는 거리가 있는 단순화. 채널(외부 데이터 전체) 단위로 knockout하는 현실적인 버전은 아직 미검증.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1828800"/>
            <a:ext cx="5410047" cy="2148840"/>
          </a:xfrm>
          <a:prstGeom prst="roundRect">
            <a:avLst>
              <a:gd name="adj" fmla="val 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89039" y="2029968"/>
            <a:ext cx="4897983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435A89"/>
                </a:solidFill>
                <a:latin typeface="Malgun Gothic"/>
              </a:rPr>
              <a:t>② P2-d는 1.5B에서만 검증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compute_head_relevance의 GPU 메모리 누수 버그(호출마다 ~0.12GB 누적, 회수 안 됨)로 InjecAgent 자체 head 탐색은 1.5B만 완료. 7B에서도 같은 결론(head 선정 방법을 바꿔도 같은 지점에서 억제가 멈춘다)이 유지되는지는 아직 미검증.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160520"/>
            <a:ext cx="5410047" cy="2148840"/>
          </a:xfrm>
          <a:prstGeom prst="roundRect">
            <a:avLst>
              <a:gd name="adj" fmla="val 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361688"/>
            <a:ext cx="4897983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435A89"/>
                </a:solidFill>
                <a:latin typeface="Malgun Gothic"/>
              </a:rPr>
              <a:t>③ P3 — internal/external이 왜 겹치는가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jaccard(internal,external)=0.48~0.60로 read 쪽(0.18~0.38)보다 높다. internal_heads − external_heads / 그 반대(대칭차)를 보면 채널 전용 head가 드러날 것으로 예상 — 교집합이 왜 그렇게 큰지도 설명 가능한지 확인 필요.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4160520"/>
            <a:ext cx="5410047" cy="2148840"/>
          </a:xfrm>
          <a:prstGeom prst="roundRect">
            <a:avLst>
              <a:gd name="adj" fmla="val 5000"/>
            </a:avLst>
          </a:prstGeom>
          <a:solidFill>
            <a:srgbClr val="F2F2F4"/>
          </a:solidFill>
          <a:ln w="9525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9039" y="4361688"/>
            <a:ext cx="4897983" cy="1746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435A89"/>
                </a:solidFill>
                <a:latin typeface="Malgun Gothic"/>
              </a:rPr>
              <a:t>보류 중인 항목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— 부작용(collateral damage) — 일반 언어 능력 훼손 여부 측정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— Llama 계열 교차검증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— path patching — 개별 head 인과관계 정밀 검증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565C66"/>
                </a:solidFill>
                <a:latin typeface="Malgun Gothic"/>
              </a:rPr>
              <a:t>— 실전 배포 형태 전환 (서빙 프레임워크 통합)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